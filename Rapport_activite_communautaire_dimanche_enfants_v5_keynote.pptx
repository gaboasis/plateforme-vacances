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182D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828800"/>
            <a:ext cx="10789920" cy="2377440"/>
          </a:xfrm>
          <a:prstGeom prst="rect">
            <a:avLst/>
          </a:prstGeom>
          <a:noFill/>
        </p:spPr>
        <p:txBody>
          <a:bodyPr wrap="none">
            <a:spAutoFit/>
          </a:bodyPr>
          <a:lstStyle/>
          <a:p>
            <a:pPr>
              <a:defRPr sz="3600" b="1">
                <a:solidFill>
                  <a:srgbClr val="182D4E"/>
                </a:solidFill>
                <a:latin typeface="Calibri"/>
              </a:defRPr>
            </a:pPr>
            <a:r>
              <a:t>Rapport sur l’activité communautaire du dimanche – Enfants</a:t>
            </a:r>
          </a:p>
          <a:p>
            <a:pPr>
              <a:defRPr sz="1800">
                <a:solidFill>
                  <a:srgbClr val="2C5D99"/>
                </a:solidFill>
                <a:latin typeface="Calibri"/>
              </a:defRPr>
            </a:pPr>
            <a:r>
              <a:t>Format optimisé pour Keynote (iPhone)</a:t>
            </a:r>
          </a:p>
        </p:txBody>
      </p:sp>
      <p:sp>
        <p:nvSpPr>
          <p:cNvPr id="5" name="TextBox 4"/>
          <p:cNvSpPr txBox="1"/>
          <p:nvPr/>
        </p:nvSpPr>
        <p:spPr>
          <a:xfrm>
            <a:off x="457200" y="6537960"/>
            <a:ext cx="11155680" cy="201168"/>
          </a:xfrm>
          <a:prstGeom prst="rect">
            <a:avLst/>
          </a:prstGeom>
          <a:noFill/>
        </p:spPr>
        <p:txBody>
          <a:bodyPr wrap="none">
            <a:spAutoFit/>
          </a:bodyPr>
          <a:lstStyle/>
          <a:p>
            <a:pPr algn="r">
              <a:defRPr sz="1000">
                <a:solidFill>
                  <a:srgbClr val="66707A"/>
                </a:solidFill>
                <a:latin typeface="Calibri"/>
              </a:defRPr>
            </a:pPr>
            <a:r>
              <a:t>Version compatible Keynote / iPhone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0"/>
          </a:xfrm>
          <a:prstGeom prst="rect">
            <a:avLst/>
          </a:prstGeom>
          <a:solidFill>
            <a:srgbClr val="182D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55448"/>
            <a:ext cx="11247120" cy="438912"/>
          </a:xfrm>
          <a:prstGeom prst="rect">
            <a:avLst/>
          </a:prstGeom>
          <a:noFill/>
        </p:spPr>
        <p:txBody>
          <a:bodyPr wrap="none">
            <a:spAutoFit/>
          </a:bodyPr>
          <a:lstStyle/>
          <a:p>
            <a:pPr>
              <a:defRPr sz="2400" b="1">
                <a:solidFill>
                  <a:srgbClr val="FFFFFF"/>
                </a:solidFill>
                <a:latin typeface="Calibri"/>
              </a:defRPr>
            </a:pPr>
            <a:r>
              <a:t>1. Objectif de l’activité</a:t>
            </a:r>
          </a:p>
        </p:txBody>
      </p:sp>
      <p:sp>
        <p:nvSpPr>
          <p:cNvPr id="5" name="TextBox 4"/>
          <p:cNvSpPr txBox="1"/>
          <p:nvPr/>
        </p:nvSpPr>
        <p:spPr>
          <a:xfrm>
            <a:off x="457200" y="886968"/>
            <a:ext cx="11155680" cy="301752"/>
          </a:xfrm>
          <a:prstGeom prst="rect">
            <a:avLst/>
          </a:prstGeom>
          <a:noFill/>
        </p:spPr>
        <p:txBody>
          <a:bodyPr wrap="none">
            <a:spAutoFit/>
          </a:bodyPr>
          <a:lstStyle/>
          <a:p>
            <a:pPr>
              <a:defRPr sz="1200">
                <a:solidFill>
                  <a:srgbClr val="66707A"/>
                </a:solidFill>
                <a:latin typeface="Calibri"/>
              </a:defRPr>
            </a:pPr>
            <a:r>
              <a:t>2. Données de participation</a:t>
            </a:r>
          </a:p>
        </p:txBody>
      </p:sp>
      <p:sp>
        <p:nvSpPr>
          <p:cNvPr id="6" name="Rectangle 5"/>
          <p:cNvSpPr/>
          <p:nvPr/>
        </p:nvSpPr>
        <p:spPr>
          <a:xfrm>
            <a:off x="502920" y="1234440"/>
            <a:ext cx="11201400" cy="5212080"/>
          </a:xfrm>
          <a:prstGeom prst="rect">
            <a:avLst/>
          </a:prstGeom>
          <a:solidFill>
            <a:srgbClr val="FFFFFF"/>
          </a:solidFill>
          <a:ln>
            <a:solidFill>
              <a:srgbClr val="DC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344168"/>
            <a:ext cx="10835640" cy="320040"/>
          </a:xfrm>
          <a:prstGeom prst="rect">
            <a:avLst/>
          </a:prstGeom>
          <a:noFill/>
        </p:spPr>
        <p:txBody>
          <a:bodyPr wrap="none">
            <a:spAutoFit/>
          </a:bodyPr>
          <a:lstStyle/>
          <a:p>
            <a:pPr>
              <a:defRPr sz="1500" b="1">
                <a:solidFill>
                  <a:srgbClr val="2C5D99"/>
                </a:solidFill>
                <a:latin typeface="Calibri"/>
              </a:defRPr>
            </a:pPr>
            <a:r>
              <a:t>Objectif et participation</a:t>
            </a:r>
          </a:p>
        </p:txBody>
      </p:sp>
      <p:sp>
        <p:nvSpPr>
          <p:cNvPr id="8" name="TextBox 7"/>
          <p:cNvSpPr txBox="1"/>
          <p:nvPr/>
        </p:nvSpPr>
        <p:spPr>
          <a:xfrm>
            <a:off x="777240" y="1691640"/>
            <a:ext cx="10698480" cy="4526280"/>
          </a:xfrm>
          <a:prstGeom prst="rect">
            <a:avLst/>
          </a:prstGeom>
          <a:noFill/>
        </p:spPr>
        <p:txBody>
          <a:bodyPr wrap="square">
            <a:spAutoFit/>
          </a:bodyPr>
          <a:lstStyle/>
          <a:p>
            <a:pPr>
              <a:spcAft>
                <a:spcPts val="500"/>
              </a:spcAft>
              <a:defRPr sz="1300">
                <a:solidFill>
                  <a:srgbClr val="1E2125"/>
                </a:solidFill>
                <a:latin typeface="Calibri"/>
              </a:defRPr>
            </a:pPr>
            <a:r>
              <a:t>L’activité communautaire du dimanche vise à offrir aux enfants un environnement encadré favorisant leur développement social, éducatif et personnel, tout en renforçant leur intégration au sein de la communauté et leur faire comprendre l’association.</a:t>
            </a:r>
          </a:p>
          <a:p>
            <a:pPr>
              <a:spcAft>
                <a:spcPts val="500"/>
              </a:spcAft>
              <a:defRPr sz="1300">
                <a:solidFill>
                  <a:srgbClr val="1E2125"/>
                </a:solidFill>
                <a:latin typeface="Calibri"/>
              </a:defRPr>
            </a:pPr>
            <a:r>
              <a:t>Nombre total d’inscriptions : 150 enfants</a:t>
            </a:r>
          </a:p>
          <a:p>
            <a:pPr>
              <a:spcAft>
                <a:spcPts val="500"/>
              </a:spcAft>
              <a:defRPr sz="1300">
                <a:solidFill>
                  <a:srgbClr val="1E2125"/>
                </a:solidFill>
                <a:latin typeface="Calibri"/>
              </a:defRPr>
            </a:pPr>
            <a:r>
              <a:t>Présence hebdomadaire moyenne : entre 80 et 100 enfants</a:t>
            </a:r>
          </a:p>
        </p:txBody>
      </p:sp>
      <p:sp>
        <p:nvSpPr>
          <p:cNvPr id="9" name="TextBox 8"/>
          <p:cNvSpPr txBox="1"/>
          <p:nvPr/>
        </p:nvSpPr>
        <p:spPr>
          <a:xfrm>
            <a:off x="457200" y="6537960"/>
            <a:ext cx="11155680" cy="201168"/>
          </a:xfrm>
          <a:prstGeom prst="rect">
            <a:avLst/>
          </a:prstGeom>
          <a:noFill/>
        </p:spPr>
        <p:txBody>
          <a:bodyPr wrap="none">
            <a:spAutoFit/>
          </a:bodyPr>
          <a:lstStyle/>
          <a:p>
            <a:pPr algn="r">
              <a:defRPr sz="1000">
                <a:solidFill>
                  <a:srgbClr val="66707A"/>
                </a:solidFill>
                <a:latin typeface="Calibri"/>
              </a:defRPr>
            </a:pPr>
            <a:r>
              <a:t>Version compatible Keynote / iPhone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0"/>
          </a:xfrm>
          <a:prstGeom prst="rect">
            <a:avLst/>
          </a:prstGeom>
          <a:solidFill>
            <a:srgbClr val="182D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55448"/>
            <a:ext cx="11247120" cy="438912"/>
          </a:xfrm>
          <a:prstGeom prst="rect">
            <a:avLst/>
          </a:prstGeom>
          <a:noFill/>
        </p:spPr>
        <p:txBody>
          <a:bodyPr wrap="none">
            <a:spAutoFit/>
          </a:bodyPr>
          <a:lstStyle/>
          <a:p>
            <a:pPr>
              <a:defRPr sz="2400" b="1">
                <a:solidFill>
                  <a:srgbClr val="FFFFFF"/>
                </a:solidFill>
                <a:latin typeface="Calibri"/>
              </a:defRPr>
            </a:pPr>
            <a:r>
              <a:t>3. Organisation des groupes</a:t>
            </a:r>
          </a:p>
        </p:txBody>
      </p:sp>
      <p:sp>
        <p:nvSpPr>
          <p:cNvPr id="5" name="Rectangle 4"/>
          <p:cNvSpPr/>
          <p:nvPr/>
        </p:nvSpPr>
        <p:spPr>
          <a:xfrm>
            <a:off x="502920" y="1234440"/>
            <a:ext cx="11201400" cy="5212080"/>
          </a:xfrm>
          <a:prstGeom prst="rect">
            <a:avLst/>
          </a:prstGeom>
          <a:solidFill>
            <a:srgbClr val="FFFFFF"/>
          </a:solidFill>
          <a:ln>
            <a:solidFill>
              <a:srgbClr val="DC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1344168"/>
            <a:ext cx="10835640" cy="320040"/>
          </a:xfrm>
          <a:prstGeom prst="rect">
            <a:avLst/>
          </a:prstGeom>
          <a:noFill/>
        </p:spPr>
        <p:txBody>
          <a:bodyPr wrap="none">
            <a:spAutoFit/>
          </a:bodyPr>
          <a:lstStyle/>
          <a:p>
            <a:pPr>
              <a:defRPr sz="1500" b="1">
                <a:solidFill>
                  <a:srgbClr val="2C5D99"/>
                </a:solidFill>
                <a:latin typeface="Calibri"/>
              </a:defRPr>
            </a:pPr>
            <a:r>
              <a:t>Organisation des groupes</a:t>
            </a:r>
          </a:p>
        </p:txBody>
      </p:sp>
      <p:sp>
        <p:nvSpPr>
          <p:cNvPr id="7" name="TextBox 6"/>
          <p:cNvSpPr txBox="1"/>
          <p:nvPr/>
        </p:nvSpPr>
        <p:spPr>
          <a:xfrm>
            <a:off x="777240" y="1691640"/>
            <a:ext cx="10698480" cy="4526280"/>
          </a:xfrm>
          <a:prstGeom prst="rect">
            <a:avLst/>
          </a:prstGeom>
          <a:noFill/>
        </p:spPr>
        <p:txBody>
          <a:bodyPr wrap="square">
            <a:spAutoFit/>
          </a:bodyPr>
          <a:lstStyle/>
          <a:p>
            <a:pPr>
              <a:spcAft>
                <a:spcPts val="500"/>
              </a:spcAft>
              <a:defRPr sz="1300">
                <a:solidFill>
                  <a:srgbClr val="1E2125"/>
                </a:solidFill>
                <a:latin typeface="Calibri"/>
              </a:defRPr>
            </a:pPr>
            <a:r>
              <a:t>Les enfants sont répartis selon leur tranche d’âge :</a:t>
            </a:r>
          </a:p>
          <a:p>
            <a:pPr>
              <a:spcAft>
                <a:spcPts val="500"/>
              </a:spcAft>
              <a:defRPr sz="1300">
                <a:solidFill>
                  <a:srgbClr val="1E2125"/>
                </a:solidFill>
                <a:latin typeface="Calibri"/>
              </a:defRPr>
            </a:pPr>
            <a:r>
              <a:t>5 à 6 ans</a:t>
            </a:r>
          </a:p>
          <a:p>
            <a:pPr>
              <a:spcAft>
                <a:spcPts val="500"/>
              </a:spcAft>
              <a:defRPr sz="1300">
                <a:solidFill>
                  <a:srgbClr val="1E2125"/>
                </a:solidFill>
                <a:latin typeface="Calibri"/>
              </a:defRPr>
            </a:pPr>
            <a:r>
              <a:t>7 à 8 ans</a:t>
            </a:r>
          </a:p>
          <a:p>
            <a:pPr>
              <a:spcAft>
                <a:spcPts val="500"/>
              </a:spcAft>
              <a:defRPr sz="1300">
                <a:solidFill>
                  <a:srgbClr val="1E2125"/>
                </a:solidFill>
                <a:latin typeface="Calibri"/>
              </a:defRPr>
            </a:pPr>
            <a:r>
              <a:t>9 à 10 ans</a:t>
            </a:r>
          </a:p>
          <a:p>
            <a:pPr>
              <a:spcAft>
                <a:spcPts val="500"/>
              </a:spcAft>
              <a:defRPr sz="1300">
                <a:solidFill>
                  <a:srgbClr val="1E2125"/>
                </a:solidFill>
                <a:latin typeface="Calibri"/>
              </a:defRPr>
            </a:pPr>
            <a:r>
              <a:t>11 à 12 ans</a:t>
            </a:r>
          </a:p>
          <a:p>
            <a:pPr>
              <a:spcAft>
                <a:spcPts val="500"/>
              </a:spcAft>
              <a:defRPr sz="1300">
                <a:solidFill>
                  <a:srgbClr val="1E2125"/>
                </a:solidFill>
                <a:latin typeface="Calibri"/>
              </a:defRPr>
            </a:pPr>
            <a:r>
              <a:t>Chaque tranche est subdivisée en 2 à 3 groupes, afin d’assurer un encadrement adéquat et une meilleure adaptation des activités.</a:t>
            </a:r>
          </a:p>
          <a:p>
            <a:pPr>
              <a:spcAft>
                <a:spcPts val="500"/>
              </a:spcAft>
              <a:defRPr sz="1300">
                <a:solidFill>
                  <a:srgbClr val="1E2125"/>
                </a:solidFill>
                <a:latin typeface="Calibri"/>
              </a:defRPr>
            </a:pPr>
            <a:r>
              <a:t>Les educateurs jongles d’un groupe a l’autre selon la periode. Cette decision est prise selon le responsable et la capacite de l’educateur a enseigner cette matière. Premier 30 minutes “apprendre par coeur”. Deuxieme 30 minutes “la lecon”. Le troisieme 30 minutes “recitation des versets”. Quelques educateurs on demander explicitement d’avoir le meme groupe et de ne pas changer.</a:t>
            </a:r>
          </a:p>
        </p:txBody>
      </p:sp>
      <p:sp>
        <p:nvSpPr>
          <p:cNvPr id="8" name="TextBox 7"/>
          <p:cNvSpPr txBox="1"/>
          <p:nvPr/>
        </p:nvSpPr>
        <p:spPr>
          <a:xfrm>
            <a:off x="457200" y="6537960"/>
            <a:ext cx="11155680" cy="201168"/>
          </a:xfrm>
          <a:prstGeom prst="rect">
            <a:avLst/>
          </a:prstGeom>
          <a:noFill/>
        </p:spPr>
        <p:txBody>
          <a:bodyPr wrap="none">
            <a:spAutoFit/>
          </a:bodyPr>
          <a:lstStyle/>
          <a:p>
            <a:pPr algn="r">
              <a:defRPr sz="1000">
                <a:solidFill>
                  <a:srgbClr val="66707A"/>
                </a:solidFill>
                <a:latin typeface="Calibri"/>
              </a:defRPr>
            </a:pPr>
            <a:r>
              <a:t>Version compatible Keynote / iPhone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0"/>
          </a:xfrm>
          <a:prstGeom prst="rect">
            <a:avLst/>
          </a:prstGeom>
          <a:solidFill>
            <a:srgbClr val="182D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55448"/>
            <a:ext cx="11247120" cy="438912"/>
          </a:xfrm>
          <a:prstGeom prst="rect">
            <a:avLst/>
          </a:prstGeom>
          <a:noFill/>
        </p:spPr>
        <p:txBody>
          <a:bodyPr wrap="none">
            <a:spAutoFit/>
          </a:bodyPr>
          <a:lstStyle/>
          <a:p>
            <a:pPr>
              <a:defRPr sz="2400" b="1">
                <a:solidFill>
                  <a:srgbClr val="FFFFFF"/>
                </a:solidFill>
                <a:latin typeface="Calibri"/>
              </a:defRPr>
            </a:pPr>
            <a:r>
              <a:t>4. Encadrement et rôle des éducateurs</a:t>
            </a:r>
          </a:p>
        </p:txBody>
      </p:sp>
      <p:sp>
        <p:nvSpPr>
          <p:cNvPr id="5" name="Rectangle 4"/>
          <p:cNvSpPr/>
          <p:nvPr/>
        </p:nvSpPr>
        <p:spPr>
          <a:xfrm>
            <a:off x="502920" y="1234440"/>
            <a:ext cx="11201400" cy="5212080"/>
          </a:xfrm>
          <a:prstGeom prst="rect">
            <a:avLst/>
          </a:prstGeom>
          <a:solidFill>
            <a:srgbClr val="FFFFFF"/>
          </a:solidFill>
          <a:ln>
            <a:solidFill>
              <a:srgbClr val="DC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1344168"/>
            <a:ext cx="10835640" cy="320040"/>
          </a:xfrm>
          <a:prstGeom prst="rect">
            <a:avLst/>
          </a:prstGeom>
          <a:noFill/>
        </p:spPr>
        <p:txBody>
          <a:bodyPr wrap="none">
            <a:spAutoFit/>
          </a:bodyPr>
          <a:lstStyle/>
          <a:p>
            <a:pPr>
              <a:defRPr sz="1500" b="1">
                <a:solidFill>
                  <a:srgbClr val="2C5D99"/>
                </a:solidFill>
                <a:latin typeface="Calibri"/>
              </a:defRPr>
            </a:pPr>
            <a:r>
              <a:t>Encadrement et rôle</a:t>
            </a:r>
          </a:p>
        </p:txBody>
      </p:sp>
      <p:sp>
        <p:nvSpPr>
          <p:cNvPr id="7" name="TextBox 6"/>
          <p:cNvSpPr txBox="1"/>
          <p:nvPr/>
        </p:nvSpPr>
        <p:spPr>
          <a:xfrm>
            <a:off x="777240" y="1691640"/>
            <a:ext cx="10698480" cy="4526280"/>
          </a:xfrm>
          <a:prstGeom prst="rect">
            <a:avLst/>
          </a:prstGeom>
          <a:noFill/>
        </p:spPr>
        <p:txBody>
          <a:bodyPr wrap="square">
            <a:spAutoFit/>
          </a:bodyPr>
          <a:lstStyle/>
          <a:p>
            <a:pPr>
              <a:spcAft>
                <a:spcPts val="500"/>
              </a:spcAft>
              <a:defRPr sz="1300">
                <a:solidFill>
                  <a:srgbClr val="1E2125"/>
                </a:solidFill>
                <a:latin typeface="Calibri"/>
              </a:defRPr>
            </a:pPr>
            <a:r>
              <a:t>Les éducateurs assurent :</a:t>
            </a:r>
          </a:p>
          <a:p>
            <a:pPr>
              <a:spcAft>
                <a:spcPts val="500"/>
              </a:spcAft>
              <a:defRPr sz="1300">
                <a:solidFill>
                  <a:srgbClr val="1E2125"/>
                </a:solidFill>
                <a:latin typeface="Calibri"/>
              </a:defRPr>
            </a:pPr>
            <a:r>
              <a:t>l’animation des activités</a:t>
            </a:r>
          </a:p>
          <a:p>
            <a:pPr>
              <a:spcAft>
                <a:spcPts val="500"/>
              </a:spcAft>
              <a:defRPr sz="1300">
                <a:solidFill>
                  <a:srgbClr val="1E2125"/>
                </a:solidFill>
                <a:latin typeface="Calibri"/>
              </a:defRPr>
            </a:pPr>
            <a:r>
              <a:t>la gestion des groupes</a:t>
            </a:r>
          </a:p>
          <a:p>
            <a:pPr>
              <a:spcAft>
                <a:spcPts val="500"/>
              </a:spcAft>
              <a:defRPr sz="1300">
                <a:solidFill>
                  <a:srgbClr val="1E2125"/>
                </a:solidFill>
                <a:latin typeface="Calibri"/>
              </a:defRPr>
            </a:pPr>
            <a:r>
              <a:t>la sécurité des enfants</a:t>
            </a:r>
          </a:p>
          <a:p>
            <a:pPr>
              <a:spcAft>
                <a:spcPts val="500"/>
              </a:spcAft>
              <a:defRPr sz="1300">
                <a:solidFill>
                  <a:srgbClr val="1E2125"/>
                </a:solidFill>
                <a:latin typeface="Calibri"/>
              </a:defRPr>
            </a:pPr>
            <a:r>
              <a:t>le maintien d’un climat structuré</a:t>
            </a:r>
          </a:p>
          <a:p>
            <a:pPr>
              <a:spcAft>
                <a:spcPts val="500"/>
              </a:spcAft>
              <a:defRPr sz="1300">
                <a:solidFill>
                  <a:srgbClr val="1E2125"/>
                </a:solidFill>
                <a:latin typeface="Calibri"/>
              </a:defRPr>
            </a:pPr>
            <a:r>
              <a:t>Des ajustements dans la répartition des éducateurs sont effectués selon les besoins organisationnels.</a:t>
            </a:r>
          </a:p>
          <a:p>
            <a:pPr>
              <a:spcAft>
                <a:spcPts val="500"/>
              </a:spcAft>
              <a:defRPr sz="1300">
                <a:solidFill>
                  <a:srgbClr val="1E2125"/>
                </a:solidFill>
                <a:latin typeface="Calibri"/>
              </a:defRPr>
            </a:pPr>
            <a:r>
              <a:t>Les educateurs sont choisis selon la vision du responsable, selon lui qui est plus apte a enseigner tel groupe ou tel groupe. Certains educateur ont choisis eux meme leur groupe d’age car il mentionne ne pas etre capable d’enseigner les autres groups d’age.</a:t>
            </a:r>
          </a:p>
        </p:txBody>
      </p:sp>
      <p:sp>
        <p:nvSpPr>
          <p:cNvPr id="8" name="TextBox 7"/>
          <p:cNvSpPr txBox="1"/>
          <p:nvPr/>
        </p:nvSpPr>
        <p:spPr>
          <a:xfrm>
            <a:off x="457200" y="6537960"/>
            <a:ext cx="11155680" cy="201168"/>
          </a:xfrm>
          <a:prstGeom prst="rect">
            <a:avLst/>
          </a:prstGeom>
          <a:noFill/>
        </p:spPr>
        <p:txBody>
          <a:bodyPr wrap="none">
            <a:spAutoFit/>
          </a:bodyPr>
          <a:lstStyle/>
          <a:p>
            <a:pPr algn="r">
              <a:defRPr sz="1000">
                <a:solidFill>
                  <a:srgbClr val="66707A"/>
                </a:solidFill>
                <a:latin typeface="Calibri"/>
              </a:defRPr>
            </a:pPr>
            <a:r>
              <a:t>Version compatible Keynote / iPhone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0"/>
          </a:xfrm>
          <a:prstGeom prst="rect">
            <a:avLst/>
          </a:prstGeom>
          <a:solidFill>
            <a:srgbClr val="182D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55448"/>
            <a:ext cx="11247120" cy="438912"/>
          </a:xfrm>
          <a:prstGeom prst="rect">
            <a:avLst/>
          </a:prstGeom>
          <a:noFill/>
        </p:spPr>
        <p:txBody>
          <a:bodyPr wrap="none">
            <a:spAutoFit/>
          </a:bodyPr>
          <a:lstStyle/>
          <a:p>
            <a:pPr>
              <a:defRPr sz="2400" b="1">
                <a:solidFill>
                  <a:srgbClr val="FFFFFF"/>
                </a:solidFill>
                <a:latin typeface="Calibri"/>
              </a:defRPr>
            </a:pPr>
            <a:r>
              <a:t>5. Conditions matérielles et environnement</a:t>
            </a:r>
          </a:p>
        </p:txBody>
      </p:sp>
      <p:sp>
        <p:nvSpPr>
          <p:cNvPr id="5" name="Rectangle 4"/>
          <p:cNvSpPr/>
          <p:nvPr/>
        </p:nvSpPr>
        <p:spPr>
          <a:xfrm>
            <a:off x="502920" y="1234440"/>
            <a:ext cx="11201400" cy="5212080"/>
          </a:xfrm>
          <a:prstGeom prst="rect">
            <a:avLst/>
          </a:prstGeom>
          <a:solidFill>
            <a:srgbClr val="FFFFFF"/>
          </a:solidFill>
          <a:ln>
            <a:solidFill>
              <a:srgbClr val="DC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1344168"/>
            <a:ext cx="10835640" cy="320040"/>
          </a:xfrm>
          <a:prstGeom prst="rect">
            <a:avLst/>
          </a:prstGeom>
          <a:noFill/>
        </p:spPr>
        <p:txBody>
          <a:bodyPr wrap="none">
            <a:spAutoFit/>
          </a:bodyPr>
          <a:lstStyle/>
          <a:p>
            <a:pPr>
              <a:defRPr sz="1500" b="1">
                <a:solidFill>
                  <a:srgbClr val="2C5D99"/>
                </a:solidFill>
                <a:latin typeface="Calibri"/>
              </a:defRPr>
            </a:pPr>
            <a:r>
              <a:t>Conditions matérielles</a:t>
            </a:r>
          </a:p>
        </p:txBody>
      </p:sp>
      <p:sp>
        <p:nvSpPr>
          <p:cNvPr id="7" name="TextBox 6"/>
          <p:cNvSpPr txBox="1"/>
          <p:nvPr/>
        </p:nvSpPr>
        <p:spPr>
          <a:xfrm>
            <a:off x="777240" y="1691640"/>
            <a:ext cx="10698480" cy="4526280"/>
          </a:xfrm>
          <a:prstGeom prst="rect">
            <a:avLst/>
          </a:prstGeom>
          <a:noFill/>
        </p:spPr>
        <p:txBody>
          <a:bodyPr wrap="square">
            <a:spAutoFit/>
          </a:bodyPr>
          <a:lstStyle/>
          <a:p>
            <a:pPr>
              <a:spcAft>
                <a:spcPts val="500"/>
              </a:spcAft>
              <a:defRPr sz="1300">
                <a:solidFill>
                  <a:srgbClr val="1E2125"/>
                </a:solidFill>
                <a:latin typeface="Calibri"/>
              </a:defRPr>
            </a:pPr>
            <a:r>
              <a:t>Les activités se déroulent dans une salle ouverte, sans séparation physique entre les groupes.</a:t>
            </a:r>
          </a:p>
          <a:p>
            <a:pPr>
              <a:spcAft>
                <a:spcPts val="500"/>
              </a:spcAft>
              <a:defRPr sz="1300">
                <a:solidFill>
                  <a:srgbClr val="1E2125"/>
                </a:solidFill>
                <a:latin typeface="Calibri"/>
              </a:defRPr>
            </a:pPr>
            <a:r>
              <a:t>Impacts observés :</a:t>
            </a:r>
          </a:p>
          <a:p>
            <a:pPr>
              <a:spcAft>
                <a:spcPts val="500"/>
              </a:spcAft>
              <a:defRPr sz="1300">
                <a:solidFill>
                  <a:srgbClr val="1E2125"/>
                </a:solidFill>
                <a:latin typeface="Calibri"/>
              </a:defRPr>
            </a:pPr>
            <a:r>
              <a:t>Niveau de bruit élevé</a:t>
            </a:r>
          </a:p>
          <a:p>
            <a:pPr>
              <a:spcAft>
                <a:spcPts val="500"/>
              </a:spcAft>
              <a:defRPr sz="1300">
                <a:solidFill>
                  <a:srgbClr val="1E2125"/>
                </a:solidFill>
                <a:latin typeface="Calibri"/>
              </a:defRPr>
            </a:pPr>
            <a:r>
              <a:t>Diminution de la concentration des enfants</a:t>
            </a:r>
          </a:p>
          <a:p>
            <a:pPr>
              <a:spcAft>
                <a:spcPts val="500"/>
              </a:spcAft>
              <a:defRPr sz="1300">
                <a:solidFill>
                  <a:srgbClr val="1E2125"/>
                </a:solidFill>
                <a:latin typeface="Calibri"/>
              </a:defRPr>
            </a:pPr>
            <a:r>
              <a:t>Interférences entre les groupes</a:t>
            </a:r>
          </a:p>
          <a:p>
            <a:pPr>
              <a:spcAft>
                <a:spcPts val="500"/>
              </a:spcAft>
              <a:defRPr sz="1300">
                <a:solidFill>
                  <a:srgbClr val="1E2125"/>
                </a:solidFill>
                <a:latin typeface="Calibri"/>
              </a:defRPr>
            </a:pPr>
            <a:r>
              <a:t>Fatigue chez certains éducateurs</a:t>
            </a:r>
          </a:p>
          <a:p>
            <a:pPr>
              <a:spcAft>
                <a:spcPts val="500"/>
              </a:spcAft>
              <a:defRPr sz="1300">
                <a:solidFill>
                  <a:srgbClr val="1E2125"/>
                </a:solidFill>
                <a:latin typeface="Calibri"/>
              </a:defRPr>
            </a:pPr>
            <a:r>
              <a:t>Analyse :</a:t>
            </a:r>
            <a:br/>
            <a:r>
              <a:t>Cet environnement constitue un facteur limitatif important pour la qualité pédagogique.</a:t>
            </a:r>
          </a:p>
        </p:txBody>
      </p:sp>
      <p:sp>
        <p:nvSpPr>
          <p:cNvPr id="8" name="Rectangle 7"/>
          <p:cNvSpPr/>
          <p:nvPr/>
        </p:nvSpPr>
        <p:spPr>
          <a:xfrm>
            <a:off x="777240" y="1353312"/>
            <a:ext cx="1737360" cy="274320"/>
          </a:xfrm>
          <a:prstGeom prst="rect">
            <a:avLst/>
          </a:prstGeom>
          <a:solidFill>
            <a:srgbClr val="E7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0392" y="1380744"/>
            <a:ext cx="1600200" cy="201168"/>
          </a:xfrm>
          <a:prstGeom prst="rect">
            <a:avLst/>
          </a:prstGeom>
          <a:noFill/>
        </p:spPr>
        <p:txBody>
          <a:bodyPr wrap="none">
            <a:spAutoFit/>
          </a:bodyPr>
          <a:lstStyle/>
          <a:p>
            <a:pPr>
              <a:defRPr sz="1000" b="1">
                <a:solidFill>
                  <a:srgbClr val="005B96"/>
                </a:solidFill>
                <a:latin typeface="Calibri"/>
              </a:defRPr>
            </a:pPr>
            <a:r>
              <a:t>ANALYSE</a:t>
            </a:r>
          </a:p>
        </p:txBody>
      </p:sp>
      <p:sp>
        <p:nvSpPr>
          <p:cNvPr id="10" name="Rectangle 9"/>
          <p:cNvSpPr/>
          <p:nvPr/>
        </p:nvSpPr>
        <p:spPr>
          <a:xfrm>
            <a:off x="2651760" y="1353312"/>
            <a:ext cx="1737360" cy="274320"/>
          </a:xfrm>
          <a:prstGeom prst="rect">
            <a:avLst/>
          </a:prstGeom>
          <a:solidFill>
            <a:srgbClr val="FFF2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724912" y="1380744"/>
            <a:ext cx="1600200" cy="201168"/>
          </a:xfrm>
          <a:prstGeom prst="rect">
            <a:avLst/>
          </a:prstGeom>
          <a:noFill/>
        </p:spPr>
        <p:txBody>
          <a:bodyPr wrap="none">
            <a:spAutoFit/>
          </a:bodyPr>
          <a:lstStyle/>
          <a:p>
            <a:pPr>
              <a:defRPr sz="1000" b="1">
                <a:solidFill>
                  <a:srgbClr val="AA5200"/>
                </a:solidFill>
                <a:latin typeface="Calibri"/>
              </a:defRPr>
            </a:pPr>
            <a:r>
              <a:t>IMPACTS</a:t>
            </a:r>
          </a:p>
        </p:txBody>
      </p:sp>
      <p:sp>
        <p:nvSpPr>
          <p:cNvPr id="12" name="TextBox 11"/>
          <p:cNvSpPr txBox="1"/>
          <p:nvPr/>
        </p:nvSpPr>
        <p:spPr>
          <a:xfrm>
            <a:off x="457200" y="6537960"/>
            <a:ext cx="11155680" cy="201168"/>
          </a:xfrm>
          <a:prstGeom prst="rect">
            <a:avLst/>
          </a:prstGeom>
          <a:noFill/>
        </p:spPr>
        <p:txBody>
          <a:bodyPr wrap="none">
            <a:spAutoFit/>
          </a:bodyPr>
          <a:lstStyle/>
          <a:p>
            <a:pPr algn="r">
              <a:defRPr sz="1000">
                <a:solidFill>
                  <a:srgbClr val="66707A"/>
                </a:solidFill>
                <a:latin typeface="Calibri"/>
              </a:defRPr>
            </a:pPr>
            <a:r>
              <a:t>Version compatible Keynote / iPhone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0"/>
          </a:xfrm>
          <a:prstGeom prst="rect">
            <a:avLst/>
          </a:prstGeom>
          <a:solidFill>
            <a:srgbClr val="182D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55448"/>
            <a:ext cx="11247120" cy="438912"/>
          </a:xfrm>
          <a:prstGeom prst="rect">
            <a:avLst/>
          </a:prstGeom>
          <a:noFill/>
        </p:spPr>
        <p:txBody>
          <a:bodyPr wrap="none">
            <a:spAutoFit/>
          </a:bodyPr>
          <a:lstStyle/>
          <a:p>
            <a:pPr>
              <a:defRPr sz="2400" b="1">
                <a:solidFill>
                  <a:srgbClr val="FFFFFF"/>
                </a:solidFill>
                <a:latin typeface="Calibri"/>
              </a:defRPr>
            </a:pPr>
            <a:r>
              <a:t>6. Climat de travail et gestion interne</a:t>
            </a:r>
          </a:p>
        </p:txBody>
      </p:sp>
      <p:sp>
        <p:nvSpPr>
          <p:cNvPr id="5" name="TextBox 4"/>
          <p:cNvSpPr txBox="1"/>
          <p:nvPr/>
        </p:nvSpPr>
        <p:spPr>
          <a:xfrm>
            <a:off x="457200" y="886968"/>
            <a:ext cx="11155680" cy="301752"/>
          </a:xfrm>
          <a:prstGeom prst="rect">
            <a:avLst/>
          </a:prstGeom>
          <a:noFill/>
        </p:spPr>
        <p:txBody>
          <a:bodyPr wrap="none">
            <a:spAutoFit/>
          </a:bodyPr>
          <a:lstStyle/>
          <a:p>
            <a:pPr>
              <a:defRPr sz="1200">
                <a:solidFill>
                  <a:srgbClr val="66707A"/>
                </a:solidFill>
                <a:latin typeface="Calibri"/>
              </a:defRPr>
            </a:pPr>
            <a:r>
              <a:t>a) Engagement des éducateurs</a:t>
            </a:r>
          </a:p>
        </p:txBody>
      </p:sp>
      <p:sp>
        <p:nvSpPr>
          <p:cNvPr id="6" name="Rectangle 5"/>
          <p:cNvSpPr/>
          <p:nvPr/>
        </p:nvSpPr>
        <p:spPr>
          <a:xfrm>
            <a:off x="502920" y="1234440"/>
            <a:ext cx="11201400" cy="5212080"/>
          </a:xfrm>
          <a:prstGeom prst="rect">
            <a:avLst/>
          </a:prstGeom>
          <a:solidFill>
            <a:srgbClr val="FFFFFF"/>
          </a:solidFill>
          <a:ln>
            <a:solidFill>
              <a:srgbClr val="DC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344168"/>
            <a:ext cx="10835640" cy="320040"/>
          </a:xfrm>
          <a:prstGeom prst="rect">
            <a:avLst/>
          </a:prstGeom>
          <a:noFill/>
        </p:spPr>
        <p:txBody>
          <a:bodyPr wrap="none">
            <a:spAutoFit/>
          </a:bodyPr>
          <a:lstStyle/>
          <a:p>
            <a:pPr>
              <a:defRPr sz="1500" b="1">
                <a:solidFill>
                  <a:srgbClr val="2C5D99"/>
                </a:solidFill>
                <a:latin typeface="Calibri"/>
              </a:defRPr>
            </a:pPr>
            <a:r>
              <a:t>Engagement des éducateurs</a:t>
            </a:r>
          </a:p>
        </p:txBody>
      </p:sp>
      <p:sp>
        <p:nvSpPr>
          <p:cNvPr id="8" name="TextBox 7"/>
          <p:cNvSpPr txBox="1"/>
          <p:nvPr/>
        </p:nvSpPr>
        <p:spPr>
          <a:xfrm>
            <a:off x="777240" y="1691640"/>
            <a:ext cx="10698480" cy="4526280"/>
          </a:xfrm>
          <a:prstGeom prst="rect">
            <a:avLst/>
          </a:prstGeom>
          <a:noFill/>
        </p:spPr>
        <p:txBody>
          <a:bodyPr wrap="square">
            <a:spAutoFit/>
          </a:bodyPr>
          <a:lstStyle/>
          <a:p>
            <a:pPr>
              <a:spcAft>
                <a:spcPts val="500"/>
              </a:spcAft>
              <a:defRPr sz="1300">
                <a:solidFill>
                  <a:srgbClr val="1E2125"/>
                </a:solidFill>
                <a:latin typeface="Calibri"/>
              </a:defRPr>
            </a:pPr>
            <a:r>
              <a:t>Le climat de travail est globalement fonctionnel et positif, mais certains enjeux organisationnels ont été identifiés.</a:t>
            </a:r>
          </a:p>
          <a:p>
            <a:pPr>
              <a:spcAft>
                <a:spcPts val="500"/>
              </a:spcAft>
              <a:defRPr sz="1300">
                <a:solidFill>
                  <a:srgbClr val="1E2125"/>
                </a:solidFill>
                <a:latin typeface="Calibri"/>
              </a:defRPr>
            </a:pPr>
            <a:r>
              <a:t>Engagement des éducateurs</a:t>
            </a:r>
            <a:br/>
            <a:r>
              <a:t>Une responsable a signalé des difficultés liées à l’engagement et à la disponibilité des éducateurs :</a:t>
            </a:r>
          </a:p>
          <a:p>
            <a:pPr>
              <a:spcAft>
                <a:spcPts val="500"/>
              </a:spcAft>
              <a:defRPr sz="1300">
                <a:solidFill>
                  <a:srgbClr val="1E2125"/>
                </a:solidFill>
                <a:latin typeface="Calibri"/>
              </a:defRPr>
            </a:pPr>
            <a:r>
              <a:t>• Mouhamad Mohamad Al Moudalal ( Retour a Alif )</a:t>
            </a:r>
          </a:p>
          <a:p>
            <a:pPr>
              <a:spcAft>
                <a:spcPts val="500"/>
              </a:spcAft>
              <a:defRPr sz="1300">
                <a:solidFill>
                  <a:srgbClr val="1E2125"/>
                </a:solidFill>
                <a:latin typeface="Calibri"/>
              </a:defRPr>
            </a:pPr>
            <a:r>
              <a:t>• Khalil Issa ( Retour a Alif )</a:t>
            </a:r>
          </a:p>
          <a:p>
            <a:pPr>
              <a:spcAft>
                <a:spcPts val="500"/>
              </a:spcAft>
              <a:defRPr sz="1300">
                <a:solidFill>
                  <a:srgbClr val="1E2125"/>
                </a:solidFill>
                <a:latin typeface="Calibri"/>
              </a:defRPr>
            </a:pPr>
            <a:r>
              <a:t>• Ezzo El Merhebi ( Blessure )</a:t>
            </a:r>
          </a:p>
          <a:p>
            <a:pPr>
              <a:spcAft>
                <a:spcPts val="500"/>
              </a:spcAft>
              <a:defRPr sz="1300">
                <a:solidFill>
                  <a:srgbClr val="1E2125"/>
                </a:solidFill>
                <a:latin typeface="Calibri"/>
              </a:defRPr>
            </a:pPr>
            <a:r>
              <a:t>• Azza ( Maladie )</a:t>
            </a:r>
          </a:p>
          <a:p>
            <a:pPr>
              <a:spcAft>
                <a:spcPts val="500"/>
              </a:spcAft>
              <a:defRPr sz="1300">
                <a:solidFill>
                  <a:srgbClr val="1E2125"/>
                </a:solidFill>
                <a:latin typeface="Calibri"/>
              </a:defRPr>
            </a:pPr>
            <a:r>
              <a:t>Certains éducateurs se sont engagés initialement, mais ont dû se retirer pour des raisons personnelles</a:t>
            </a:r>
          </a:p>
          <a:p>
            <a:pPr>
              <a:spcAft>
                <a:spcPts val="500"/>
              </a:spcAft>
              <a:defRPr sz="1300">
                <a:solidFill>
                  <a:srgbClr val="1E2125"/>
                </a:solidFill>
                <a:latin typeface="Calibri"/>
              </a:defRPr>
            </a:pPr>
            <a:r>
              <a:t>Des cas de désistement avec peu ou sans préavis ont été observés</a:t>
            </a:r>
          </a:p>
          <a:p>
            <a:pPr>
              <a:spcAft>
                <a:spcPts val="500"/>
              </a:spcAft>
              <a:defRPr sz="1300">
                <a:solidFill>
                  <a:srgbClr val="1E2125"/>
                </a:solidFill>
                <a:latin typeface="Calibri"/>
              </a:defRPr>
            </a:pPr>
            <a:r>
              <a:t>Impacts :</a:t>
            </a:r>
          </a:p>
          <a:p>
            <a:pPr>
              <a:spcAft>
                <a:spcPts val="500"/>
              </a:spcAft>
              <a:defRPr sz="1300">
                <a:solidFill>
                  <a:srgbClr val="1E2125"/>
                </a:solidFill>
                <a:latin typeface="Calibri"/>
              </a:defRPr>
            </a:pPr>
            <a:r>
              <a:t>Désorganisation ponctuelle des groupes</a:t>
            </a:r>
          </a:p>
          <a:p>
            <a:pPr>
              <a:spcAft>
                <a:spcPts val="500"/>
              </a:spcAft>
              <a:defRPr sz="1300">
                <a:solidFill>
                  <a:srgbClr val="1E2125"/>
                </a:solidFill>
                <a:latin typeface="Calibri"/>
              </a:defRPr>
            </a:pPr>
            <a:r>
              <a:t>Pression accrue sur les éducateurs présents</a:t>
            </a:r>
          </a:p>
          <a:p>
            <a:pPr>
              <a:spcAft>
                <a:spcPts val="500"/>
              </a:spcAft>
              <a:defRPr sz="1300">
                <a:solidFill>
                  <a:srgbClr val="1E2125"/>
                </a:solidFill>
                <a:latin typeface="Calibri"/>
              </a:defRPr>
            </a:pPr>
            <a:r>
              <a:t>Ajustements de dernière minute</a:t>
            </a:r>
          </a:p>
          <a:p>
            <a:pPr>
              <a:spcAft>
                <a:spcPts val="500"/>
              </a:spcAft>
              <a:defRPr sz="1300">
                <a:solidFill>
                  <a:srgbClr val="1E2125"/>
                </a:solidFill>
                <a:latin typeface="Calibri"/>
              </a:defRPr>
            </a:pPr>
            <a:r>
              <a:t>Analyse :</a:t>
            </a:r>
            <a:br/>
            <a:r>
              <a:t>Ces situations indiquent une instabilité au niveau des ressources humaines, probablement liée à :</a:t>
            </a:r>
          </a:p>
          <a:p>
            <a:pPr>
              <a:spcAft>
                <a:spcPts val="500"/>
              </a:spcAft>
              <a:defRPr sz="1300">
                <a:solidFill>
                  <a:srgbClr val="1E2125"/>
                </a:solidFill>
                <a:latin typeface="Calibri"/>
              </a:defRPr>
            </a:pPr>
            <a:r>
              <a:t>un engagement informel ou bénévole</a:t>
            </a:r>
          </a:p>
          <a:p>
            <a:pPr>
              <a:spcAft>
                <a:spcPts val="500"/>
              </a:spcAft>
              <a:defRPr sz="1300">
                <a:solidFill>
                  <a:srgbClr val="1E2125"/>
                </a:solidFill>
                <a:latin typeface="Calibri"/>
              </a:defRPr>
            </a:pPr>
            <a:r>
              <a:t>l’absence de mécanismes formels de remplacement</a:t>
            </a:r>
          </a:p>
          <a:p>
            <a:pPr>
              <a:spcAft>
                <a:spcPts val="500"/>
              </a:spcAft>
              <a:defRPr sz="1300">
                <a:solidFill>
                  <a:srgbClr val="1E2125"/>
                </a:solidFill>
                <a:latin typeface="Calibri"/>
              </a:defRPr>
            </a:pPr>
            <a:r>
              <a:t>un manque de cadre clair concernant les attentes d’engagement</a:t>
            </a:r>
          </a:p>
        </p:txBody>
      </p:sp>
      <p:sp>
        <p:nvSpPr>
          <p:cNvPr id="9" name="Rectangle 8"/>
          <p:cNvSpPr/>
          <p:nvPr/>
        </p:nvSpPr>
        <p:spPr>
          <a:xfrm>
            <a:off x="777240" y="1353312"/>
            <a:ext cx="1737360" cy="274320"/>
          </a:xfrm>
          <a:prstGeom prst="rect">
            <a:avLst/>
          </a:prstGeom>
          <a:solidFill>
            <a:srgbClr val="E7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0392" y="1380744"/>
            <a:ext cx="1600200" cy="201168"/>
          </a:xfrm>
          <a:prstGeom prst="rect">
            <a:avLst/>
          </a:prstGeom>
          <a:noFill/>
        </p:spPr>
        <p:txBody>
          <a:bodyPr wrap="none">
            <a:spAutoFit/>
          </a:bodyPr>
          <a:lstStyle/>
          <a:p>
            <a:pPr>
              <a:defRPr sz="1000" b="1">
                <a:solidFill>
                  <a:srgbClr val="005B96"/>
                </a:solidFill>
                <a:latin typeface="Calibri"/>
              </a:defRPr>
            </a:pPr>
            <a:r>
              <a:t>ANALYSE</a:t>
            </a:r>
          </a:p>
        </p:txBody>
      </p:sp>
      <p:sp>
        <p:nvSpPr>
          <p:cNvPr id="11" name="Rectangle 10"/>
          <p:cNvSpPr/>
          <p:nvPr/>
        </p:nvSpPr>
        <p:spPr>
          <a:xfrm>
            <a:off x="2651760" y="1353312"/>
            <a:ext cx="1737360" cy="274320"/>
          </a:xfrm>
          <a:prstGeom prst="rect">
            <a:avLst/>
          </a:prstGeom>
          <a:solidFill>
            <a:srgbClr val="FFF2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724912" y="1380744"/>
            <a:ext cx="1600200" cy="201168"/>
          </a:xfrm>
          <a:prstGeom prst="rect">
            <a:avLst/>
          </a:prstGeom>
          <a:noFill/>
        </p:spPr>
        <p:txBody>
          <a:bodyPr wrap="none">
            <a:spAutoFit/>
          </a:bodyPr>
          <a:lstStyle/>
          <a:p>
            <a:pPr>
              <a:defRPr sz="1000" b="1">
                <a:solidFill>
                  <a:srgbClr val="AA5200"/>
                </a:solidFill>
                <a:latin typeface="Calibri"/>
              </a:defRPr>
            </a:pPr>
            <a:r>
              <a:t>IMPACTS</a:t>
            </a:r>
          </a:p>
        </p:txBody>
      </p:sp>
      <p:sp>
        <p:nvSpPr>
          <p:cNvPr id="13" name="TextBox 12"/>
          <p:cNvSpPr txBox="1"/>
          <p:nvPr/>
        </p:nvSpPr>
        <p:spPr>
          <a:xfrm>
            <a:off x="457200" y="6537960"/>
            <a:ext cx="11155680" cy="201168"/>
          </a:xfrm>
          <a:prstGeom prst="rect">
            <a:avLst/>
          </a:prstGeom>
          <a:noFill/>
        </p:spPr>
        <p:txBody>
          <a:bodyPr wrap="none">
            <a:spAutoFit/>
          </a:bodyPr>
          <a:lstStyle/>
          <a:p>
            <a:pPr algn="r">
              <a:defRPr sz="1000">
                <a:solidFill>
                  <a:srgbClr val="66707A"/>
                </a:solidFill>
                <a:latin typeface="Calibri"/>
              </a:defRPr>
            </a:pPr>
            <a:r>
              <a:t>Version compatible Keynote / iPhone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0"/>
          </a:xfrm>
          <a:prstGeom prst="rect">
            <a:avLst/>
          </a:prstGeom>
          <a:solidFill>
            <a:srgbClr val="182D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55448"/>
            <a:ext cx="11247120" cy="438912"/>
          </a:xfrm>
          <a:prstGeom prst="rect">
            <a:avLst/>
          </a:prstGeom>
          <a:noFill/>
        </p:spPr>
        <p:txBody>
          <a:bodyPr wrap="none">
            <a:spAutoFit/>
          </a:bodyPr>
          <a:lstStyle/>
          <a:p>
            <a:pPr>
              <a:defRPr sz="2400" b="1">
                <a:solidFill>
                  <a:srgbClr val="FFFFFF"/>
                </a:solidFill>
                <a:latin typeface="Calibri"/>
              </a:defRPr>
            </a:pPr>
            <a:r>
              <a:t>6. Climat de travail et gestion interne</a:t>
            </a:r>
          </a:p>
        </p:txBody>
      </p:sp>
      <p:sp>
        <p:nvSpPr>
          <p:cNvPr id="5" name="TextBox 4"/>
          <p:cNvSpPr txBox="1"/>
          <p:nvPr/>
        </p:nvSpPr>
        <p:spPr>
          <a:xfrm>
            <a:off x="457200" y="886968"/>
            <a:ext cx="11155680" cy="301752"/>
          </a:xfrm>
          <a:prstGeom prst="rect">
            <a:avLst/>
          </a:prstGeom>
          <a:noFill/>
        </p:spPr>
        <p:txBody>
          <a:bodyPr wrap="none">
            <a:spAutoFit/>
          </a:bodyPr>
          <a:lstStyle/>
          <a:p>
            <a:pPr>
              <a:defRPr sz="1200">
                <a:solidFill>
                  <a:srgbClr val="66707A"/>
                </a:solidFill>
                <a:latin typeface="Calibri"/>
              </a:defRPr>
            </a:pPr>
            <a:r>
              <a:t>b) Gestion des changements</a:t>
            </a:r>
          </a:p>
        </p:txBody>
      </p:sp>
      <p:sp>
        <p:nvSpPr>
          <p:cNvPr id="6" name="Rectangle 5"/>
          <p:cNvSpPr/>
          <p:nvPr/>
        </p:nvSpPr>
        <p:spPr>
          <a:xfrm>
            <a:off x="502920" y="1234440"/>
            <a:ext cx="11201400" cy="5212080"/>
          </a:xfrm>
          <a:prstGeom prst="rect">
            <a:avLst/>
          </a:prstGeom>
          <a:solidFill>
            <a:srgbClr val="FFFFFF"/>
          </a:solidFill>
          <a:ln>
            <a:solidFill>
              <a:srgbClr val="DC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344168"/>
            <a:ext cx="10835640" cy="320040"/>
          </a:xfrm>
          <a:prstGeom prst="rect">
            <a:avLst/>
          </a:prstGeom>
          <a:noFill/>
        </p:spPr>
        <p:txBody>
          <a:bodyPr wrap="none">
            <a:spAutoFit/>
          </a:bodyPr>
          <a:lstStyle/>
          <a:p>
            <a:pPr>
              <a:defRPr sz="1500" b="1">
                <a:solidFill>
                  <a:srgbClr val="2C5D99"/>
                </a:solidFill>
                <a:latin typeface="Calibri"/>
              </a:defRPr>
            </a:pPr>
            <a:r>
              <a:t>Gestion des changements</a:t>
            </a:r>
          </a:p>
        </p:txBody>
      </p:sp>
      <p:sp>
        <p:nvSpPr>
          <p:cNvPr id="8" name="TextBox 7"/>
          <p:cNvSpPr txBox="1"/>
          <p:nvPr/>
        </p:nvSpPr>
        <p:spPr>
          <a:xfrm>
            <a:off x="777240" y="1691640"/>
            <a:ext cx="10698480" cy="4526280"/>
          </a:xfrm>
          <a:prstGeom prst="rect">
            <a:avLst/>
          </a:prstGeom>
          <a:noFill/>
        </p:spPr>
        <p:txBody>
          <a:bodyPr wrap="square">
            <a:spAutoFit/>
          </a:bodyPr>
          <a:lstStyle/>
          <a:p>
            <a:pPr>
              <a:spcAft>
                <a:spcPts val="500"/>
              </a:spcAft>
              <a:defRPr sz="1300">
                <a:solidFill>
                  <a:srgbClr val="1E2125"/>
                </a:solidFill>
                <a:latin typeface="Calibri"/>
              </a:defRPr>
            </a:pPr>
            <a:r>
              <a:t>b) Gestion des changements</a:t>
            </a:r>
            <a:br/>
            <a:r>
              <a:t>Un incident a été observé :</a:t>
            </a:r>
          </a:p>
          <a:p>
            <a:pPr>
              <a:spcAft>
                <a:spcPts val="500"/>
              </a:spcAft>
              <a:defRPr sz="1300">
                <a:solidFill>
                  <a:srgbClr val="1E2125"/>
                </a:solidFill>
                <a:latin typeface="Calibri"/>
              </a:defRPr>
            </a:pPr>
            <a:r>
              <a:t>Un éducateur a manifesté son insatisfaction suite à une modification de son horaire (retrait d’un second cours). ( Chihab avec Amira Bisanni )</a:t>
            </a:r>
          </a:p>
          <a:p>
            <a:pPr>
              <a:spcAft>
                <a:spcPts val="500"/>
              </a:spcAft>
              <a:defRPr sz="1300">
                <a:solidFill>
                  <a:srgbClr val="1E2125"/>
                </a:solidFill>
                <a:latin typeface="Calibri"/>
              </a:defRPr>
            </a:pPr>
            <a:r>
              <a:t>Analyse :</a:t>
            </a:r>
          </a:p>
          <a:p>
            <a:pPr>
              <a:spcAft>
                <a:spcPts val="500"/>
              </a:spcAft>
              <a:defRPr sz="1300">
                <a:solidFill>
                  <a:srgbClr val="1E2125"/>
                </a:solidFill>
                <a:latin typeface="Calibri"/>
              </a:defRPr>
            </a:pPr>
            <a:r>
              <a:t>Manque de communication préalable</a:t>
            </a:r>
          </a:p>
          <a:p>
            <a:pPr>
              <a:spcAft>
                <a:spcPts val="500"/>
              </a:spcAft>
              <a:defRPr sz="1300">
                <a:solidFill>
                  <a:srgbClr val="1E2125"/>
                </a:solidFill>
                <a:latin typeface="Calibri"/>
              </a:defRPr>
            </a:pPr>
            <a:r>
              <a:t>Situation isolée</a:t>
            </a:r>
          </a:p>
          <a:p>
            <a:pPr>
              <a:spcAft>
                <a:spcPts val="500"/>
              </a:spcAft>
              <a:defRPr sz="1300">
                <a:solidFill>
                  <a:srgbClr val="1E2125"/>
                </a:solidFill>
                <a:latin typeface="Calibri"/>
              </a:defRPr>
            </a:pPr>
            <a:r>
              <a:t>Impact limité</a:t>
            </a:r>
          </a:p>
        </p:txBody>
      </p:sp>
      <p:sp>
        <p:nvSpPr>
          <p:cNvPr id="9" name="TextBox 8"/>
          <p:cNvSpPr txBox="1"/>
          <p:nvPr/>
        </p:nvSpPr>
        <p:spPr>
          <a:xfrm>
            <a:off x="457200" y="6537960"/>
            <a:ext cx="11155680" cy="201168"/>
          </a:xfrm>
          <a:prstGeom prst="rect">
            <a:avLst/>
          </a:prstGeom>
          <a:noFill/>
        </p:spPr>
        <p:txBody>
          <a:bodyPr wrap="none">
            <a:spAutoFit/>
          </a:bodyPr>
          <a:lstStyle/>
          <a:p>
            <a:pPr algn="r">
              <a:defRPr sz="1000">
                <a:solidFill>
                  <a:srgbClr val="66707A"/>
                </a:solidFill>
                <a:latin typeface="Calibri"/>
              </a:defRPr>
            </a:pPr>
            <a:r>
              <a:t>Version compatible Keynote / iPhone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0"/>
          </a:xfrm>
          <a:prstGeom prst="rect">
            <a:avLst/>
          </a:prstGeom>
          <a:solidFill>
            <a:srgbClr val="182D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55448"/>
            <a:ext cx="11247120" cy="438912"/>
          </a:xfrm>
          <a:prstGeom prst="rect">
            <a:avLst/>
          </a:prstGeom>
          <a:noFill/>
        </p:spPr>
        <p:txBody>
          <a:bodyPr wrap="none">
            <a:spAutoFit/>
          </a:bodyPr>
          <a:lstStyle/>
          <a:p>
            <a:pPr>
              <a:defRPr sz="2400" b="1">
                <a:solidFill>
                  <a:srgbClr val="FFFFFF"/>
                </a:solidFill>
                <a:latin typeface="Calibri"/>
              </a:defRPr>
            </a:pPr>
            <a:r>
              <a:t>7. Satisfaction des parents</a:t>
            </a:r>
          </a:p>
        </p:txBody>
      </p:sp>
      <p:sp>
        <p:nvSpPr>
          <p:cNvPr id="5" name="TextBox 4"/>
          <p:cNvSpPr txBox="1"/>
          <p:nvPr/>
        </p:nvSpPr>
        <p:spPr>
          <a:xfrm>
            <a:off x="457200" y="886968"/>
            <a:ext cx="11155680" cy="301752"/>
          </a:xfrm>
          <a:prstGeom prst="rect">
            <a:avLst/>
          </a:prstGeom>
          <a:noFill/>
        </p:spPr>
        <p:txBody>
          <a:bodyPr wrap="none">
            <a:spAutoFit/>
          </a:bodyPr>
          <a:lstStyle/>
          <a:p>
            <a:pPr>
              <a:defRPr sz="1200">
                <a:solidFill>
                  <a:srgbClr val="66707A"/>
                </a:solidFill>
                <a:latin typeface="Calibri"/>
              </a:defRPr>
            </a:pPr>
            <a:r>
              <a:t>8. Satisfaction et engagement des enfants</a:t>
            </a:r>
          </a:p>
        </p:txBody>
      </p:sp>
      <p:sp>
        <p:nvSpPr>
          <p:cNvPr id="6" name="Rectangle 5"/>
          <p:cNvSpPr/>
          <p:nvPr/>
        </p:nvSpPr>
        <p:spPr>
          <a:xfrm>
            <a:off x="502920" y="1234440"/>
            <a:ext cx="11201400" cy="5212080"/>
          </a:xfrm>
          <a:prstGeom prst="rect">
            <a:avLst/>
          </a:prstGeom>
          <a:solidFill>
            <a:srgbClr val="FFFFFF"/>
          </a:solidFill>
          <a:ln>
            <a:solidFill>
              <a:srgbClr val="DC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344168"/>
            <a:ext cx="10835640" cy="320040"/>
          </a:xfrm>
          <a:prstGeom prst="rect">
            <a:avLst/>
          </a:prstGeom>
          <a:noFill/>
        </p:spPr>
        <p:txBody>
          <a:bodyPr wrap="none">
            <a:spAutoFit/>
          </a:bodyPr>
          <a:lstStyle/>
          <a:p>
            <a:pPr>
              <a:defRPr sz="1500" b="1">
                <a:solidFill>
                  <a:srgbClr val="2C5D99"/>
                </a:solidFill>
                <a:latin typeface="Calibri"/>
              </a:defRPr>
            </a:pPr>
            <a:r>
              <a:t>Satisfaction</a:t>
            </a:r>
          </a:p>
        </p:txBody>
      </p:sp>
      <p:sp>
        <p:nvSpPr>
          <p:cNvPr id="8" name="TextBox 7"/>
          <p:cNvSpPr txBox="1"/>
          <p:nvPr/>
        </p:nvSpPr>
        <p:spPr>
          <a:xfrm>
            <a:off x="777240" y="1691640"/>
            <a:ext cx="10698480" cy="4526280"/>
          </a:xfrm>
          <a:prstGeom prst="rect">
            <a:avLst/>
          </a:prstGeom>
          <a:noFill/>
        </p:spPr>
        <p:txBody>
          <a:bodyPr wrap="square">
            <a:spAutoFit/>
          </a:bodyPr>
          <a:lstStyle/>
          <a:p>
            <a:pPr>
              <a:spcAft>
                <a:spcPts val="500"/>
              </a:spcAft>
              <a:defRPr sz="1300">
                <a:solidFill>
                  <a:srgbClr val="1E2125"/>
                </a:solidFill>
                <a:latin typeface="Calibri"/>
              </a:defRPr>
            </a:pPr>
            <a:r>
              <a:t>La satisfaction générale est bonne.</a:t>
            </a:r>
          </a:p>
          <a:p>
            <a:pPr>
              <a:spcAft>
                <a:spcPts val="500"/>
              </a:spcAft>
              <a:defRPr sz="1300">
                <a:solidFill>
                  <a:srgbClr val="1E2125"/>
                </a:solidFill>
                <a:latin typeface="Calibri"/>
              </a:defRPr>
            </a:pPr>
            <a:r>
              <a:t>Situation observée :</a:t>
            </a:r>
          </a:p>
          <a:p>
            <a:pPr>
              <a:spcAft>
                <a:spcPts val="500"/>
              </a:spcAft>
              <a:defRPr sz="1300">
                <a:solidFill>
                  <a:srgbClr val="1E2125"/>
                </a:solidFill>
                <a:latin typeface="Calibri"/>
              </a:defRPr>
            </a:pPr>
            <a:r>
              <a:t>Un parent a retiré ses enfants en raison d’un niveau jugé insuffisant</a:t>
            </a:r>
          </a:p>
          <a:p>
            <a:pPr>
              <a:spcAft>
                <a:spcPts val="500"/>
              </a:spcAft>
              <a:defRPr sz="1300">
                <a:solidFill>
                  <a:srgbClr val="1E2125"/>
                </a:solidFill>
                <a:latin typeface="Calibri"/>
              </a:defRPr>
            </a:pPr>
            <a:r>
              <a:t>Orientation vers des cours privés</a:t>
            </a:r>
          </a:p>
          <a:p>
            <a:pPr>
              <a:spcAft>
                <a:spcPts val="500"/>
              </a:spcAft>
              <a:defRPr sz="1300">
                <a:solidFill>
                  <a:srgbClr val="1E2125"/>
                </a:solidFill>
                <a:latin typeface="Calibri"/>
              </a:defRPr>
            </a:pPr>
            <a:r>
              <a:t>Analyse :</a:t>
            </a:r>
          </a:p>
          <a:p>
            <a:pPr>
              <a:spcAft>
                <a:spcPts val="500"/>
              </a:spcAft>
              <a:defRPr sz="1300">
                <a:solidFill>
                  <a:srgbClr val="1E2125"/>
                </a:solidFill>
                <a:latin typeface="Calibri"/>
              </a:defRPr>
            </a:pPr>
            <a:r>
              <a:t>Cas isolé</a:t>
            </a:r>
          </a:p>
          <a:p>
            <a:pPr>
              <a:spcAft>
                <a:spcPts val="500"/>
              </a:spcAft>
              <a:defRPr sz="1300">
                <a:solidFill>
                  <a:srgbClr val="1E2125"/>
                </a:solidFill>
                <a:latin typeface="Calibri"/>
              </a:defRPr>
            </a:pPr>
            <a:r>
              <a:t>Aucune tendance de plaintes récurrentes</a:t>
            </a:r>
          </a:p>
          <a:p>
            <a:pPr>
              <a:spcAft>
                <a:spcPts val="500"/>
              </a:spcAft>
              <a:defRPr sz="1300">
                <a:solidFill>
                  <a:srgbClr val="1E2125"/>
                </a:solidFill>
                <a:latin typeface="Calibri"/>
              </a:defRPr>
            </a:pPr>
            <a:r>
              <a:t>Les enfants sont généralement engagés et participatifs, bien que leur concentration soit parfois affectée par le bruit.</a:t>
            </a:r>
          </a:p>
        </p:txBody>
      </p:sp>
      <p:sp>
        <p:nvSpPr>
          <p:cNvPr id="9" name="Rectangle 8"/>
          <p:cNvSpPr/>
          <p:nvPr/>
        </p:nvSpPr>
        <p:spPr>
          <a:xfrm>
            <a:off x="777240" y="1353312"/>
            <a:ext cx="1737360" cy="274320"/>
          </a:xfrm>
          <a:prstGeom prst="rect">
            <a:avLst/>
          </a:prstGeom>
          <a:solidFill>
            <a:srgbClr val="E7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0392" y="1380744"/>
            <a:ext cx="1600200" cy="201168"/>
          </a:xfrm>
          <a:prstGeom prst="rect">
            <a:avLst/>
          </a:prstGeom>
          <a:noFill/>
        </p:spPr>
        <p:txBody>
          <a:bodyPr wrap="none">
            <a:spAutoFit/>
          </a:bodyPr>
          <a:lstStyle/>
          <a:p>
            <a:pPr>
              <a:defRPr sz="1000" b="1">
                <a:solidFill>
                  <a:srgbClr val="005B96"/>
                </a:solidFill>
                <a:latin typeface="Calibri"/>
              </a:defRPr>
            </a:pPr>
            <a:r>
              <a:t>ANALYSE</a:t>
            </a:r>
          </a:p>
        </p:txBody>
      </p:sp>
      <p:sp>
        <p:nvSpPr>
          <p:cNvPr id="11" name="Rectangle 10"/>
          <p:cNvSpPr/>
          <p:nvPr/>
        </p:nvSpPr>
        <p:spPr>
          <a:xfrm>
            <a:off x="2651760" y="1353312"/>
            <a:ext cx="1737360" cy="274320"/>
          </a:xfrm>
          <a:prstGeom prst="rect">
            <a:avLst/>
          </a:prstGeom>
          <a:solidFill>
            <a:srgbClr val="FFF2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724912" y="1380744"/>
            <a:ext cx="1600200" cy="201168"/>
          </a:xfrm>
          <a:prstGeom prst="rect">
            <a:avLst/>
          </a:prstGeom>
          <a:noFill/>
        </p:spPr>
        <p:txBody>
          <a:bodyPr wrap="none">
            <a:spAutoFit/>
          </a:bodyPr>
          <a:lstStyle/>
          <a:p>
            <a:pPr>
              <a:defRPr sz="1000" b="1">
                <a:solidFill>
                  <a:srgbClr val="AA5200"/>
                </a:solidFill>
                <a:latin typeface="Calibri"/>
              </a:defRPr>
            </a:pPr>
            <a:r>
              <a:t>IMPACTS</a:t>
            </a:r>
          </a:p>
        </p:txBody>
      </p:sp>
      <p:sp>
        <p:nvSpPr>
          <p:cNvPr id="13" name="TextBox 12"/>
          <p:cNvSpPr txBox="1"/>
          <p:nvPr/>
        </p:nvSpPr>
        <p:spPr>
          <a:xfrm>
            <a:off x="457200" y="6537960"/>
            <a:ext cx="11155680" cy="201168"/>
          </a:xfrm>
          <a:prstGeom prst="rect">
            <a:avLst/>
          </a:prstGeom>
          <a:noFill/>
        </p:spPr>
        <p:txBody>
          <a:bodyPr wrap="none">
            <a:spAutoFit/>
          </a:bodyPr>
          <a:lstStyle/>
          <a:p>
            <a:pPr algn="r">
              <a:defRPr sz="1000">
                <a:solidFill>
                  <a:srgbClr val="66707A"/>
                </a:solidFill>
                <a:latin typeface="Calibri"/>
              </a:defRPr>
            </a:pPr>
            <a:r>
              <a:t>Version compatible Keynote / iPhone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0"/>
          </a:xfrm>
          <a:prstGeom prst="rect">
            <a:avLst/>
          </a:prstGeom>
          <a:solidFill>
            <a:srgbClr val="182D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55448"/>
            <a:ext cx="11247120" cy="438912"/>
          </a:xfrm>
          <a:prstGeom prst="rect">
            <a:avLst/>
          </a:prstGeom>
          <a:noFill/>
        </p:spPr>
        <p:txBody>
          <a:bodyPr wrap="none">
            <a:spAutoFit/>
          </a:bodyPr>
          <a:lstStyle/>
          <a:p>
            <a:pPr>
              <a:defRPr sz="2400" b="1">
                <a:solidFill>
                  <a:srgbClr val="FFFFFF"/>
                </a:solidFill>
                <a:latin typeface="Calibri"/>
              </a:defRPr>
            </a:pPr>
            <a:r>
              <a:t>9. Gestion financière et ressources matérielles</a:t>
            </a:r>
          </a:p>
        </p:txBody>
      </p:sp>
      <p:sp>
        <p:nvSpPr>
          <p:cNvPr id="5" name="Rectangle 4"/>
          <p:cNvSpPr/>
          <p:nvPr/>
        </p:nvSpPr>
        <p:spPr>
          <a:xfrm>
            <a:off x="502920" y="1234440"/>
            <a:ext cx="11201400" cy="5212080"/>
          </a:xfrm>
          <a:prstGeom prst="rect">
            <a:avLst/>
          </a:prstGeom>
          <a:solidFill>
            <a:srgbClr val="FFFFFF"/>
          </a:solidFill>
          <a:ln>
            <a:solidFill>
              <a:srgbClr val="DC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1344168"/>
            <a:ext cx="10835640" cy="320040"/>
          </a:xfrm>
          <a:prstGeom prst="rect">
            <a:avLst/>
          </a:prstGeom>
          <a:noFill/>
        </p:spPr>
        <p:txBody>
          <a:bodyPr wrap="none">
            <a:spAutoFit/>
          </a:bodyPr>
          <a:lstStyle/>
          <a:p>
            <a:pPr>
              <a:defRPr sz="1500" b="1">
                <a:solidFill>
                  <a:srgbClr val="2C5D99"/>
                </a:solidFill>
                <a:latin typeface="Calibri"/>
              </a:defRPr>
            </a:pPr>
            <a:r>
              <a:t>Gestion financière et ressources matérielles</a:t>
            </a:r>
          </a:p>
        </p:txBody>
      </p:sp>
      <p:sp>
        <p:nvSpPr>
          <p:cNvPr id="7" name="TextBox 6"/>
          <p:cNvSpPr txBox="1"/>
          <p:nvPr/>
        </p:nvSpPr>
        <p:spPr>
          <a:xfrm>
            <a:off x="777240" y="1691640"/>
            <a:ext cx="10698480" cy="4526280"/>
          </a:xfrm>
          <a:prstGeom prst="rect">
            <a:avLst/>
          </a:prstGeom>
          <a:noFill/>
        </p:spPr>
        <p:txBody>
          <a:bodyPr wrap="square">
            <a:spAutoFit/>
          </a:bodyPr>
          <a:lstStyle/>
          <a:p>
            <a:pPr>
              <a:spcAft>
                <a:spcPts val="500"/>
              </a:spcAft>
              <a:defRPr sz="1300">
                <a:solidFill>
                  <a:srgbClr val="1E2125"/>
                </a:solidFill>
                <a:latin typeface="Calibri"/>
              </a:defRPr>
            </a:pPr>
            <a:r>
              <a:t>Financement basé sur les dons des parents</a:t>
            </a:r>
          </a:p>
          <a:p>
            <a:pPr>
              <a:spcAft>
                <a:spcPts val="500"/>
              </a:spcAft>
              <a:defRPr sz="1300">
                <a:solidFill>
                  <a:srgbClr val="1E2125"/>
                </a:solidFill>
                <a:latin typeface="Calibri"/>
              </a:defRPr>
            </a:pPr>
            <a:r>
              <a:t>Aucun financement direct de l’association</a:t>
            </a:r>
          </a:p>
          <a:p>
            <a:pPr>
              <a:spcAft>
                <a:spcPts val="500"/>
              </a:spcAft>
              <a:defRPr sz="1300">
                <a:solidFill>
                  <a:srgbClr val="1E2125"/>
                </a:solidFill>
                <a:latin typeface="Calibri"/>
              </a:defRPr>
            </a:pPr>
            <a:r>
              <a:t>Montant utilisé : environ 2 300 $</a:t>
            </a:r>
          </a:p>
          <a:p>
            <a:pPr>
              <a:spcAft>
                <a:spcPts val="500"/>
              </a:spcAft>
              <a:defRPr sz="1300">
                <a:solidFill>
                  <a:srgbClr val="1E2125"/>
                </a:solidFill>
                <a:latin typeface="Calibri"/>
              </a:defRPr>
            </a:pPr>
            <a:r>
              <a:t>Matériel :</a:t>
            </a:r>
          </a:p>
          <a:p>
            <a:pPr>
              <a:spcAft>
                <a:spcPts val="500"/>
              </a:spcAft>
              <a:defRPr sz="1300">
                <a:solidFill>
                  <a:srgbClr val="1E2125"/>
                </a:solidFill>
                <a:latin typeface="Calibri"/>
              </a:defRPr>
            </a:pPr>
            <a:r>
              <a:t>Cahiers individuels pour chaque enfant</a:t>
            </a:r>
          </a:p>
          <a:p>
            <a:pPr>
              <a:spcAft>
                <a:spcPts val="500"/>
              </a:spcAft>
              <a:defRPr sz="1300">
                <a:solidFill>
                  <a:srgbClr val="1E2125"/>
                </a:solidFill>
                <a:latin typeface="Calibri"/>
              </a:defRPr>
            </a:pPr>
            <a:r>
              <a:t>Ajout hebdomadaire de contenu imprimé</a:t>
            </a:r>
          </a:p>
          <a:p>
            <a:pPr>
              <a:spcAft>
                <a:spcPts val="500"/>
              </a:spcAft>
              <a:defRPr sz="1300">
                <a:solidFill>
                  <a:srgbClr val="1E2125"/>
                </a:solidFill>
                <a:latin typeface="Calibri"/>
              </a:defRPr>
            </a:pPr>
            <a:r>
              <a:t>Certains enfants oublient souvent leur cahier a la maison ou il est mal entretenue.</a:t>
            </a:r>
          </a:p>
        </p:txBody>
      </p:sp>
      <p:sp>
        <p:nvSpPr>
          <p:cNvPr id="8" name="TextBox 7"/>
          <p:cNvSpPr txBox="1"/>
          <p:nvPr/>
        </p:nvSpPr>
        <p:spPr>
          <a:xfrm>
            <a:off x="457200" y="6537960"/>
            <a:ext cx="11155680" cy="201168"/>
          </a:xfrm>
          <a:prstGeom prst="rect">
            <a:avLst/>
          </a:prstGeom>
          <a:noFill/>
        </p:spPr>
        <p:txBody>
          <a:bodyPr wrap="none">
            <a:spAutoFit/>
          </a:bodyPr>
          <a:lstStyle/>
          <a:p>
            <a:pPr algn="r">
              <a:defRPr sz="1000">
                <a:solidFill>
                  <a:srgbClr val="66707A"/>
                </a:solidFill>
                <a:latin typeface="Calibri"/>
              </a:defRPr>
            </a:pPr>
            <a:r>
              <a:t>Version compatible Keynote / iPhone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0"/>
          </a:xfrm>
          <a:prstGeom prst="rect">
            <a:avLst/>
          </a:prstGeom>
          <a:solidFill>
            <a:srgbClr val="182D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55448"/>
            <a:ext cx="11247120" cy="438912"/>
          </a:xfrm>
          <a:prstGeom prst="rect">
            <a:avLst/>
          </a:prstGeom>
          <a:noFill/>
        </p:spPr>
        <p:txBody>
          <a:bodyPr wrap="none">
            <a:spAutoFit/>
          </a:bodyPr>
          <a:lstStyle/>
          <a:p>
            <a:pPr>
              <a:defRPr sz="2400" b="1">
                <a:solidFill>
                  <a:srgbClr val="FFFFFF"/>
                </a:solidFill>
                <a:latin typeface="Calibri"/>
              </a:defRPr>
            </a:pPr>
            <a:r>
              <a:t>10. Points forts</a:t>
            </a:r>
          </a:p>
        </p:txBody>
      </p:sp>
      <p:sp>
        <p:nvSpPr>
          <p:cNvPr id="5" name="TextBox 4"/>
          <p:cNvSpPr txBox="1"/>
          <p:nvPr/>
        </p:nvSpPr>
        <p:spPr>
          <a:xfrm>
            <a:off x="457200" y="886968"/>
            <a:ext cx="11155680" cy="301752"/>
          </a:xfrm>
          <a:prstGeom prst="rect">
            <a:avLst/>
          </a:prstGeom>
          <a:noFill/>
        </p:spPr>
        <p:txBody>
          <a:bodyPr wrap="none">
            <a:spAutoFit/>
          </a:bodyPr>
          <a:lstStyle/>
          <a:p>
            <a:pPr>
              <a:defRPr sz="1200">
                <a:solidFill>
                  <a:srgbClr val="66707A"/>
                </a:solidFill>
                <a:latin typeface="Calibri"/>
              </a:defRPr>
            </a:pPr>
            <a:r>
              <a:t>11. Points à améliorer</a:t>
            </a:r>
          </a:p>
        </p:txBody>
      </p:sp>
      <p:sp>
        <p:nvSpPr>
          <p:cNvPr id="6" name="Rectangle 5"/>
          <p:cNvSpPr/>
          <p:nvPr/>
        </p:nvSpPr>
        <p:spPr>
          <a:xfrm>
            <a:off x="502920" y="1234440"/>
            <a:ext cx="5486400" cy="5212080"/>
          </a:xfrm>
          <a:prstGeom prst="rect">
            <a:avLst/>
          </a:prstGeom>
          <a:solidFill>
            <a:srgbClr val="FFFFFF"/>
          </a:solidFill>
          <a:ln>
            <a:solidFill>
              <a:srgbClr val="DC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344168"/>
            <a:ext cx="5120640" cy="320040"/>
          </a:xfrm>
          <a:prstGeom prst="rect">
            <a:avLst/>
          </a:prstGeom>
          <a:noFill/>
        </p:spPr>
        <p:txBody>
          <a:bodyPr wrap="none">
            <a:spAutoFit/>
          </a:bodyPr>
          <a:lstStyle/>
          <a:p>
            <a:pPr>
              <a:defRPr sz="1500" b="1">
                <a:solidFill>
                  <a:srgbClr val="2C5D99"/>
                </a:solidFill>
                <a:latin typeface="Calibri"/>
              </a:defRPr>
            </a:pPr>
            <a:r>
              <a:t>Points forts</a:t>
            </a:r>
          </a:p>
        </p:txBody>
      </p:sp>
      <p:sp>
        <p:nvSpPr>
          <p:cNvPr id="8" name="Rectangle 7"/>
          <p:cNvSpPr/>
          <p:nvPr/>
        </p:nvSpPr>
        <p:spPr>
          <a:xfrm>
            <a:off x="6217920" y="1234440"/>
            <a:ext cx="5486400" cy="5212080"/>
          </a:xfrm>
          <a:prstGeom prst="rect">
            <a:avLst/>
          </a:prstGeom>
          <a:solidFill>
            <a:srgbClr val="FFFFFF"/>
          </a:solidFill>
          <a:ln>
            <a:solidFill>
              <a:srgbClr val="DC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344168"/>
            <a:ext cx="5120640" cy="320040"/>
          </a:xfrm>
          <a:prstGeom prst="rect">
            <a:avLst/>
          </a:prstGeom>
          <a:noFill/>
        </p:spPr>
        <p:txBody>
          <a:bodyPr wrap="none">
            <a:spAutoFit/>
          </a:bodyPr>
          <a:lstStyle/>
          <a:p>
            <a:pPr>
              <a:defRPr sz="1500" b="1">
                <a:solidFill>
                  <a:srgbClr val="2C5D99"/>
                </a:solidFill>
                <a:latin typeface="Calibri"/>
              </a:defRPr>
            </a:pPr>
            <a:r>
              <a:t>Points à améliorer</a:t>
            </a:r>
          </a:p>
        </p:txBody>
      </p:sp>
      <p:sp>
        <p:nvSpPr>
          <p:cNvPr id="10" name="TextBox 9"/>
          <p:cNvSpPr txBox="1"/>
          <p:nvPr/>
        </p:nvSpPr>
        <p:spPr>
          <a:xfrm>
            <a:off x="777240" y="1691640"/>
            <a:ext cx="4983480" cy="4526280"/>
          </a:xfrm>
          <a:prstGeom prst="rect">
            <a:avLst/>
          </a:prstGeom>
          <a:noFill/>
        </p:spPr>
        <p:txBody>
          <a:bodyPr wrap="square">
            <a:spAutoFit/>
          </a:bodyPr>
          <a:lstStyle/>
          <a:p>
            <a:pPr>
              <a:spcAft>
                <a:spcPts val="500"/>
              </a:spcAft>
              <a:defRPr sz="1300">
                <a:solidFill>
                  <a:srgbClr val="1E2125"/>
                </a:solidFill>
                <a:latin typeface="Calibri"/>
              </a:defRPr>
            </a:pPr>
            <a:r>
              <a:t>Bonne participation</a:t>
            </a:r>
          </a:p>
          <a:p>
            <a:pPr>
              <a:spcAft>
                <a:spcPts val="500"/>
              </a:spcAft>
              <a:defRPr sz="1300">
                <a:solidFill>
                  <a:srgbClr val="1E2125"/>
                </a:solidFill>
                <a:latin typeface="Calibri"/>
              </a:defRPr>
            </a:pPr>
            <a:r>
              <a:t>Notre but est atteint</a:t>
            </a:r>
          </a:p>
          <a:p>
            <a:pPr>
              <a:spcAft>
                <a:spcPts val="500"/>
              </a:spcAft>
              <a:defRPr sz="1300">
                <a:solidFill>
                  <a:srgbClr val="1E2125"/>
                </a:solidFill>
                <a:latin typeface="Calibri"/>
              </a:defRPr>
            </a:pPr>
            <a:r>
              <a:t>Engagement des parents</a:t>
            </a:r>
          </a:p>
          <a:p>
            <a:pPr>
              <a:spcAft>
                <a:spcPts val="500"/>
              </a:spcAft>
              <a:defRPr sz="1300">
                <a:solidFill>
                  <a:srgbClr val="1E2125"/>
                </a:solidFill>
                <a:latin typeface="Calibri"/>
              </a:defRPr>
            </a:pPr>
            <a:r>
              <a:t>Engagement des enfants</a:t>
            </a:r>
          </a:p>
          <a:p>
            <a:pPr>
              <a:spcAft>
                <a:spcPts val="500"/>
              </a:spcAft>
              <a:defRPr sz="1300">
                <a:solidFill>
                  <a:srgbClr val="1E2125"/>
                </a:solidFill>
                <a:latin typeface="Calibri"/>
              </a:defRPr>
            </a:pPr>
            <a:r>
              <a:t>Fonctionnement financier autonome</a:t>
            </a:r>
          </a:p>
        </p:txBody>
      </p:sp>
      <p:sp>
        <p:nvSpPr>
          <p:cNvPr id="11" name="TextBox 10"/>
          <p:cNvSpPr txBox="1"/>
          <p:nvPr/>
        </p:nvSpPr>
        <p:spPr>
          <a:xfrm>
            <a:off x="6492240" y="1691640"/>
            <a:ext cx="4983480" cy="4526280"/>
          </a:xfrm>
          <a:prstGeom prst="rect">
            <a:avLst/>
          </a:prstGeom>
          <a:noFill/>
        </p:spPr>
        <p:txBody>
          <a:bodyPr wrap="square">
            <a:spAutoFit/>
          </a:bodyPr>
          <a:lstStyle/>
          <a:p>
            <a:pPr>
              <a:spcAft>
                <a:spcPts val="500"/>
              </a:spcAft>
              <a:defRPr sz="1300">
                <a:solidFill>
                  <a:srgbClr val="1E2125"/>
                </a:solidFill>
                <a:latin typeface="Calibri"/>
              </a:defRPr>
            </a:pPr>
            <a:r>
              <a:t>Gestion du bruit et de l’espace</a:t>
            </a:r>
          </a:p>
          <a:p>
            <a:pPr>
              <a:spcAft>
                <a:spcPts val="500"/>
              </a:spcAft>
              <a:defRPr sz="1300">
                <a:solidFill>
                  <a:srgbClr val="1E2125"/>
                </a:solidFill>
                <a:latin typeface="Calibri"/>
              </a:defRPr>
            </a:pPr>
            <a:r>
              <a:t>Communication interne</a:t>
            </a:r>
          </a:p>
          <a:p>
            <a:pPr>
              <a:spcAft>
                <a:spcPts val="500"/>
              </a:spcAft>
              <a:defRPr sz="1300">
                <a:solidFill>
                  <a:srgbClr val="1E2125"/>
                </a:solidFill>
                <a:latin typeface="Calibri"/>
              </a:defRPr>
            </a:pPr>
            <a:r>
              <a:t>Stabilité et engagement des éducateurs</a:t>
            </a:r>
          </a:p>
          <a:p>
            <a:pPr>
              <a:spcAft>
                <a:spcPts val="500"/>
              </a:spcAft>
              <a:defRPr sz="1300">
                <a:solidFill>
                  <a:srgbClr val="1E2125"/>
                </a:solidFill>
                <a:latin typeface="Calibri"/>
              </a:defRPr>
            </a:pPr>
            <a:r>
              <a:t>Planification des remplacements</a:t>
            </a:r>
          </a:p>
          <a:p>
            <a:pPr>
              <a:spcAft>
                <a:spcPts val="500"/>
              </a:spcAft>
              <a:defRPr sz="1300">
                <a:solidFill>
                  <a:srgbClr val="1E2125"/>
                </a:solidFill>
                <a:latin typeface="Calibri"/>
              </a:defRPr>
            </a:pPr>
            <a:r>
              <a:t>Alignement des attentes pédagogiques</a:t>
            </a:r>
          </a:p>
          <a:p>
            <a:pPr>
              <a:spcAft>
                <a:spcPts val="500"/>
              </a:spcAft>
              <a:defRPr sz="1300">
                <a:solidFill>
                  <a:srgbClr val="1E2125"/>
                </a:solidFill>
                <a:latin typeface="Calibri"/>
              </a:defRPr>
            </a:pPr>
            <a:r>
              <a:t>Dépendance au financement par dons</a:t>
            </a:r>
          </a:p>
        </p:txBody>
      </p:sp>
      <p:sp>
        <p:nvSpPr>
          <p:cNvPr id="12" name="TextBox 11"/>
          <p:cNvSpPr txBox="1"/>
          <p:nvPr/>
        </p:nvSpPr>
        <p:spPr>
          <a:xfrm>
            <a:off x="457200" y="6537960"/>
            <a:ext cx="11155680" cy="201168"/>
          </a:xfrm>
          <a:prstGeom prst="rect">
            <a:avLst/>
          </a:prstGeom>
          <a:noFill/>
        </p:spPr>
        <p:txBody>
          <a:bodyPr wrap="none">
            <a:spAutoFit/>
          </a:bodyPr>
          <a:lstStyle/>
          <a:p>
            <a:pPr algn="r">
              <a:defRPr sz="1000">
                <a:solidFill>
                  <a:srgbClr val="66707A"/>
                </a:solidFill>
                <a:latin typeface="Calibri"/>
              </a:defRPr>
            </a:pPr>
            <a:r>
              <a:t>Version compatible Keynote / iPhone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0"/>
          </a:xfrm>
          <a:prstGeom prst="rect">
            <a:avLst/>
          </a:prstGeom>
          <a:solidFill>
            <a:srgbClr val="182D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55448"/>
            <a:ext cx="11247120" cy="438912"/>
          </a:xfrm>
          <a:prstGeom prst="rect">
            <a:avLst/>
          </a:prstGeom>
          <a:noFill/>
        </p:spPr>
        <p:txBody>
          <a:bodyPr wrap="none">
            <a:spAutoFit/>
          </a:bodyPr>
          <a:lstStyle/>
          <a:p>
            <a:pPr>
              <a:defRPr sz="2400" b="1">
                <a:solidFill>
                  <a:srgbClr val="FFFFFF"/>
                </a:solidFill>
                <a:latin typeface="Calibri"/>
              </a:defRPr>
            </a:pPr>
            <a:r>
              <a:t>12. Conclusion</a:t>
            </a:r>
          </a:p>
        </p:txBody>
      </p:sp>
      <p:sp>
        <p:nvSpPr>
          <p:cNvPr id="5" name="Rectangle 4"/>
          <p:cNvSpPr/>
          <p:nvPr/>
        </p:nvSpPr>
        <p:spPr>
          <a:xfrm>
            <a:off x="502920" y="1234440"/>
            <a:ext cx="11201400" cy="5212080"/>
          </a:xfrm>
          <a:prstGeom prst="rect">
            <a:avLst/>
          </a:prstGeom>
          <a:solidFill>
            <a:srgbClr val="FFFFFF"/>
          </a:solidFill>
          <a:ln>
            <a:solidFill>
              <a:srgbClr val="DC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1344168"/>
            <a:ext cx="10835640" cy="320040"/>
          </a:xfrm>
          <a:prstGeom prst="rect">
            <a:avLst/>
          </a:prstGeom>
          <a:noFill/>
        </p:spPr>
        <p:txBody>
          <a:bodyPr wrap="none">
            <a:spAutoFit/>
          </a:bodyPr>
          <a:lstStyle/>
          <a:p>
            <a:pPr>
              <a:defRPr sz="1500" b="1">
                <a:solidFill>
                  <a:srgbClr val="2C5D99"/>
                </a:solidFill>
                <a:latin typeface="Calibri"/>
              </a:defRPr>
            </a:pPr>
            <a:r>
              <a:t>Conclusion</a:t>
            </a:r>
          </a:p>
        </p:txBody>
      </p:sp>
      <p:sp>
        <p:nvSpPr>
          <p:cNvPr id="7" name="TextBox 6"/>
          <p:cNvSpPr txBox="1"/>
          <p:nvPr/>
        </p:nvSpPr>
        <p:spPr>
          <a:xfrm>
            <a:off x="777240" y="1691640"/>
            <a:ext cx="10698480" cy="4526280"/>
          </a:xfrm>
          <a:prstGeom prst="rect">
            <a:avLst/>
          </a:prstGeom>
          <a:noFill/>
        </p:spPr>
        <p:txBody>
          <a:bodyPr wrap="square">
            <a:spAutoFit/>
          </a:bodyPr>
          <a:lstStyle/>
          <a:p>
            <a:pPr>
              <a:spcAft>
                <a:spcPts val="500"/>
              </a:spcAft>
              <a:defRPr sz="1300">
                <a:solidFill>
                  <a:srgbClr val="1E2125"/>
                </a:solidFill>
                <a:latin typeface="Calibri"/>
              </a:defRPr>
            </a:pPr>
            <a:r>
              <a:t>L’activité est globalement positive et bien structurée. Toutefois, certains défis organisationnels, notamment liés à l’environnement physique et à la gestion des ressources humaines, nécessitent des ajustements afin d’assurer une meilleure stabilité et une qualité constante des services offerts.</a:t>
            </a:r>
          </a:p>
        </p:txBody>
      </p:sp>
      <p:sp>
        <p:nvSpPr>
          <p:cNvPr id="8" name="TextBox 7"/>
          <p:cNvSpPr txBox="1"/>
          <p:nvPr/>
        </p:nvSpPr>
        <p:spPr>
          <a:xfrm>
            <a:off x="457200" y="6537960"/>
            <a:ext cx="11155680" cy="201168"/>
          </a:xfrm>
          <a:prstGeom prst="rect">
            <a:avLst/>
          </a:prstGeom>
          <a:noFill/>
        </p:spPr>
        <p:txBody>
          <a:bodyPr wrap="none">
            <a:spAutoFit/>
          </a:bodyPr>
          <a:lstStyle/>
          <a:p>
            <a:pPr algn="r">
              <a:defRPr sz="1000">
                <a:solidFill>
                  <a:srgbClr val="66707A"/>
                </a:solidFill>
                <a:latin typeface="Calibri"/>
              </a:defRPr>
            </a:pPr>
            <a:r>
              <a:t>Version compatible Keynote / iPhone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0"/>
          </a:xfrm>
          <a:prstGeom prst="rect">
            <a:avLst/>
          </a:prstGeom>
          <a:solidFill>
            <a:srgbClr val="182D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55448"/>
            <a:ext cx="11247120" cy="438912"/>
          </a:xfrm>
          <a:prstGeom prst="rect">
            <a:avLst/>
          </a:prstGeom>
          <a:noFill/>
        </p:spPr>
        <p:txBody>
          <a:bodyPr wrap="none">
            <a:spAutoFit/>
          </a:bodyPr>
          <a:lstStyle/>
          <a:p>
            <a:pPr>
              <a:defRPr sz="2400" b="1">
                <a:solidFill>
                  <a:srgbClr val="FFFFFF"/>
                </a:solidFill>
                <a:latin typeface="Calibri"/>
              </a:defRPr>
            </a:pPr>
            <a:r>
              <a:t>13. Recommandations selon ma vison selon ce que vous m’avez demandez.</a:t>
            </a:r>
          </a:p>
        </p:txBody>
      </p:sp>
      <p:sp>
        <p:nvSpPr>
          <p:cNvPr id="5" name="Rectangle 4"/>
          <p:cNvSpPr/>
          <p:nvPr/>
        </p:nvSpPr>
        <p:spPr>
          <a:xfrm>
            <a:off x="502920" y="1234440"/>
            <a:ext cx="11201400" cy="5212080"/>
          </a:xfrm>
          <a:prstGeom prst="rect">
            <a:avLst/>
          </a:prstGeom>
          <a:solidFill>
            <a:srgbClr val="FFFFFF"/>
          </a:solidFill>
          <a:ln>
            <a:solidFill>
              <a:srgbClr val="DC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1344168"/>
            <a:ext cx="10835640" cy="320040"/>
          </a:xfrm>
          <a:prstGeom prst="rect">
            <a:avLst/>
          </a:prstGeom>
          <a:noFill/>
        </p:spPr>
        <p:txBody>
          <a:bodyPr wrap="none">
            <a:spAutoFit/>
          </a:bodyPr>
          <a:lstStyle/>
          <a:p>
            <a:pPr>
              <a:defRPr sz="1500" b="1">
                <a:solidFill>
                  <a:srgbClr val="2C5D99"/>
                </a:solidFill>
                <a:latin typeface="Calibri"/>
              </a:defRPr>
            </a:pPr>
            <a:r>
              <a:t>Recommandations</a:t>
            </a:r>
          </a:p>
        </p:txBody>
      </p:sp>
      <p:sp>
        <p:nvSpPr>
          <p:cNvPr id="7" name="TextBox 6"/>
          <p:cNvSpPr txBox="1"/>
          <p:nvPr/>
        </p:nvSpPr>
        <p:spPr>
          <a:xfrm>
            <a:off x="777240" y="1691640"/>
            <a:ext cx="10698480" cy="4526280"/>
          </a:xfrm>
          <a:prstGeom prst="rect">
            <a:avLst/>
          </a:prstGeom>
          <a:noFill/>
        </p:spPr>
        <p:txBody>
          <a:bodyPr wrap="square">
            <a:spAutoFit/>
          </a:bodyPr>
          <a:lstStyle/>
          <a:p>
            <a:pPr>
              <a:spcAft>
                <a:spcPts val="500"/>
              </a:spcAft>
              <a:defRPr sz="1300">
                <a:solidFill>
                  <a:srgbClr val="1E2125"/>
                </a:solidFill>
                <a:latin typeface="Calibri"/>
              </a:defRPr>
            </a:pPr>
            <a:r>
              <a:t>Mettre en place un processus de confirmation des disponibilités des éducateurs (Deja en place sur le groupe whatsapp)</a:t>
            </a:r>
          </a:p>
          <a:p>
            <a:pPr>
              <a:spcAft>
                <a:spcPts val="500"/>
              </a:spcAft>
              <a:defRPr sz="1300">
                <a:solidFill>
                  <a:srgbClr val="1E2125"/>
                </a:solidFill>
                <a:latin typeface="Calibri"/>
              </a:defRPr>
            </a:pPr>
            <a:r>
              <a:t>Faire une liste de remplaçants</a:t>
            </a:r>
          </a:p>
          <a:p>
            <a:pPr>
              <a:spcAft>
                <a:spcPts val="500"/>
              </a:spcAft>
              <a:defRPr sz="1300">
                <a:solidFill>
                  <a:srgbClr val="1E2125"/>
                </a:solidFill>
                <a:latin typeface="Calibri"/>
              </a:defRPr>
            </a:pPr>
            <a:r>
              <a:t>Clarifier les attentes d’engagement (préavis minimal, responsabilités)</a:t>
            </a:r>
          </a:p>
          <a:p>
            <a:pPr>
              <a:spcAft>
                <a:spcPts val="500"/>
              </a:spcAft>
              <a:defRPr sz="1300">
                <a:solidFill>
                  <a:srgbClr val="1E2125"/>
                </a:solidFill>
                <a:latin typeface="Calibri"/>
              </a:defRPr>
            </a:pPr>
            <a:r>
              <a:t>Améliorer la communication lors des changements</a:t>
            </a:r>
          </a:p>
          <a:p>
            <a:pPr>
              <a:spcAft>
                <a:spcPts val="500"/>
              </a:spcAft>
              <a:defRPr sz="1300">
                <a:solidFill>
                  <a:srgbClr val="1E2125"/>
                </a:solidFill>
                <a:latin typeface="Calibri"/>
              </a:defRPr>
            </a:pPr>
            <a:r>
              <a:t>Réorganiser l’espace pour réduire le bruit (des barrieres pour isoler les groupes)</a:t>
            </a:r>
          </a:p>
          <a:p>
            <a:pPr>
              <a:spcAft>
                <a:spcPts val="500"/>
              </a:spcAft>
              <a:defRPr sz="1300">
                <a:solidFill>
                  <a:srgbClr val="1E2125"/>
                </a:solidFill>
                <a:latin typeface="Calibri"/>
              </a:defRPr>
            </a:pPr>
            <a:r>
              <a:t>Explorer des sources de financement plus stables</a:t>
            </a:r>
          </a:p>
          <a:p>
            <a:pPr>
              <a:spcAft>
                <a:spcPts val="500"/>
              </a:spcAft>
              <a:defRPr sz="1300">
                <a:solidFill>
                  <a:srgbClr val="1E2125"/>
                </a:solidFill>
                <a:latin typeface="Calibri"/>
              </a:defRPr>
            </a:pPr>
            <a:r>
              <a:t>Augmenter le temps du cours de religion de 30min a 45min pour s’assurer que l’information a bien etait donner.</a:t>
            </a:r>
          </a:p>
          <a:p>
            <a:pPr>
              <a:spcAft>
                <a:spcPts val="500"/>
              </a:spcAft>
              <a:defRPr sz="1300">
                <a:solidFill>
                  <a:srgbClr val="1E2125"/>
                </a:solidFill>
                <a:latin typeface="Calibri"/>
              </a:defRPr>
            </a:pPr>
            <a:r>
              <a:t>Regroupe les 3 sous groupes a un seul groupe pour le cours de religion. Les autres 2 educateurs durant ce 45 minutes surveille et organise les enfants.</a:t>
            </a:r>
          </a:p>
          <a:p>
            <a:pPr>
              <a:spcAft>
                <a:spcPts val="500"/>
              </a:spcAft>
              <a:defRPr sz="1300">
                <a:solidFill>
                  <a:srgbClr val="1E2125"/>
                </a:solidFill>
                <a:latin typeface="Calibri"/>
              </a:defRPr>
            </a:pPr>
            <a:r>
              <a:t>Une idee technologique moderne, pour eviter l’imprimerie et la paperasse excessif. Pour simplifier la gestion aux parents.</a:t>
            </a:r>
          </a:p>
        </p:txBody>
      </p:sp>
      <p:sp>
        <p:nvSpPr>
          <p:cNvPr id="8" name="TextBox 7"/>
          <p:cNvSpPr txBox="1"/>
          <p:nvPr/>
        </p:nvSpPr>
        <p:spPr>
          <a:xfrm>
            <a:off x="457200" y="6537960"/>
            <a:ext cx="11155680" cy="201168"/>
          </a:xfrm>
          <a:prstGeom prst="rect">
            <a:avLst/>
          </a:prstGeom>
          <a:noFill/>
        </p:spPr>
        <p:txBody>
          <a:bodyPr wrap="none">
            <a:spAutoFit/>
          </a:bodyPr>
          <a:lstStyle/>
          <a:p>
            <a:pPr algn="r">
              <a:defRPr sz="1000">
                <a:solidFill>
                  <a:srgbClr val="66707A"/>
                </a:solidFill>
                <a:latin typeface="Calibri"/>
              </a:defRPr>
            </a:pPr>
            <a:r>
              <a:t>Version compatible Keynote / iPhone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