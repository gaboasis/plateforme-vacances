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E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89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E1E3D"/>
                </a:solidFill>
                <a:latin typeface="Calibri"/>
              </a:defRPr>
            </a:pPr>
            <a:r>
              <a:t>Rapport sur l'activité communautaire du dimanche</a:t>
            </a:r>
          </a:p>
          <a:p>
            <a:pPr>
              <a:defRPr sz="2800" b="1">
                <a:solidFill>
                  <a:srgbClr val="204E80"/>
                </a:solidFill>
                <a:latin typeface="Calibri"/>
              </a:defRPr>
            </a:pPr>
            <a:r>
              <a:t>Programme Enfants</a:t>
            </a:r>
          </a:p>
          <a:p>
            <a:pPr>
              <a:defRPr sz="1600">
                <a:solidFill>
                  <a:srgbClr val="606A76"/>
                </a:solidFill>
                <a:latin typeface="Calibri"/>
              </a:defRPr>
            </a:pPr>
            <a:r>
              <a:t>Version structurée avec code couleur de lecture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54880"/>
            <a:ext cx="1554480" cy="310896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4791456"/>
            <a:ext cx="140817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5B96"/>
                </a:solidFill>
                <a:latin typeface="Calibri"/>
              </a:defRPr>
            </a:pPr>
            <a:r>
              <a:t>ANALYSE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4754880"/>
            <a:ext cx="1645920" cy="310896"/>
          </a:xfrm>
          <a:prstGeom prst="roundRect">
            <a:avLst/>
          </a:prstGeom>
          <a:solidFill>
            <a:srgbClr val="FFF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42032" y="4791456"/>
            <a:ext cx="149961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05400"/>
                </a:solidFill>
                <a:latin typeface="Calibri"/>
              </a:defRPr>
            </a:pPr>
            <a:r>
              <a:t>IMPACTS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754880"/>
            <a:ext cx="2103120" cy="310896"/>
          </a:xfrm>
          <a:prstGeom prst="roundRect">
            <a:avLst/>
          </a:prstGeom>
          <a:solidFill>
            <a:srgbClr val="E8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4791456"/>
            <a:ext cx="195681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7C41"/>
                </a:solidFill>
                <a:latin typeface="Calibri"/>
              </a:defRPr>
            </a:pPr>
            <a:r>
              <a:t>POINTS FORTS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4754880"/>
            <a:ext cx="2194560" cy="310896"/>
          </a:xfrm>
          <a:prstGeom prst="roundRect">
            <a:avLst/>
          </a:prstGeom>
          <a:solidFill>
            <a:srgbClr val="FF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39712" y="4791456"/>
            <a:ext cx="204825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42D45"/>
                </a:solidFill>
                <a:latin typeface="Calibri"/>
              </a:defRPr>
            </a:pPr>
            <a:r>
              <a:t>A AMELIORER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4754880"/>
            <a:ext cx="2560320" cy="310896"/>
          </a:xfrm>
          <a:prstGeom prst="round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08592" y="4791456"/>
            <a:ext cx="241401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41BF"/>
                </a:solidFill>
                <a:latin typeface="Calibri"/>
              </a:defRPr>
            </a:pPr>
            <a:r>
              <a:t>RECOMMANDATIONS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537960"/>
            <a:ext cx="11338560" cy="9144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5624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6A76"/>
                </a:solidFill>
                <a:latin typeface="Calibri"/>
              </a:defRPr>
            </a:pPr>
            <a:r>
              <a:t>Association communautaire - Programme Enfants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6556248"/>
            <a:ext cx="4206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6A76"/>
                </a:solidFill>
                <a:latin typeface="Calibri"/>
              </a:defRPr>
            </a:pPr>
            <a:r>
              <a:t>Rapport d'activité du dimanche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E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73736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Objectif, participation et organisation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566928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417320"/>
            <a:ext cx="5349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04E80"/>
                </a:solidFill>
                <a:latin typeface="Calibri"/>
              </a:defRPr>
            </a:pPr>
            <a:r>
              <a:t>Objectif &amp; participation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1783080"/>
            <a:ext cx="5257800" cy="446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12529"/>
                </a:solidFill>
                <a:latin typeface="Calibri"/>
              </a:defRPr>
            </a:pPr>
            <a:r>
              <a:t>- Offrir un cadre structuré favorisant le développement social, éducatif et personnel.</a:t>
            </a:r>
          </a:p>
          <a:p>
            <a:pPr>
              <a:spcAft>
                <a:spcPts val="500"/>
              </a:spcAft>
              <a:defRPr sz="1250">
                <a:solidFill>
                  <a:srgbClr val="212529"/>
                </a:solidFill>
                <a:latin typeface="Calibri"/>
              </a:defRPr>
            </a:pPr>
            <a:r>
              <a:t>- Renforcer l’intégration communautaire et transmettre la mission de l’association.</a:t>
            </a:r>
          </a:p>
          <a:p>
            <a:pPr>
              <a:spcAft>
                <a:spcPts val="500"/>
              </a:spcAft>
              <a:defRPr sz="1250">
                <a:solidFill>
                  <a:srgbClr val="212529"/>
                </a:solidFill>
                <a:latin typeface="Calibri"/>
              </a:defRPr>
            </a:pPr>
            <a:r>
              <a:t>- Nombre total d’inscriptions : 150 enfants.</a:t>
            </a:r>
          </a:p>
          <a:p>
            <a:pPr>
              <a:spcAft>
                <a:spcPts val="500"/>
              </a:spcAft>
              <a:defRPr sz="1250">
                <a:solidFill>
                  <a:srgbClr val="212529"/>
                </a:solidFill>
                <a:latin typeface="Calibri"/>
              </a:defRPr>
            </a:pPr>
            <a:r>
              <a:t>- Présence hebdomadaire moyenne : entre 80 et 100 enfants.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80160"/>
            <a:ext cx="544068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8" y="14173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04E80"/>
                </a:solidFill>
                <a:latin typeface="Calibri"/>
              </a:defRPr>
            </a:pPr>
            <a:r>
              <a:t>Organisation des groupes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3096" y="1783080"/>
            <a:ext cx="5029200" cy="446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12529"/>
                </a:solidFill>
                <a:latin typeface="Calibri"/>
              </a:defRPr>
            </a:pPr>
            <a:r>
              <a:t>- Tranches d’âge : 5-6, 7-8, 9-10, 11-12 ans.</a:t>
            </a:r>
          </a:p>
          <a:p>
            <a:pPr>
              <a:spcAft>
                <a:spcPts val="500"/>
              </a:spcAft>
              <a:defRPr sz="1250">
                <a:solidFill>
                  <a:srgbClr val="212529"/>
                </a:solidFill>
                <a:latin typeface="Calibri"/>
              </a:defRPr>
            </a:pPr>
            <a:r>
              <a:t>- Chaque tranche est divisée en 2 à 3 sous-groupes.</a:t>
            </a:r>
          </a:p>
          <a:p>
            <a:pPr>
              <a:spcAft>
                <a:spcPts val="500"/>
              </a:spcAft>
              <a:defRPr sz="1250">
                <a:solidFill>
                  <a:srgbClr val="212529"/>
                </a:solidFill>
                <a:latin typeface="Calibri"/>
              </a:defRPr>
            </a:pPr>
            <a:r>
              <a:t>- Séquence pédagogique : 30 min mémorisation, 30 min leçon, 30 min récitation.</a:t>
            </a:r>
          </a:p>
          <a:p>
            <a:pPr>
              <a:spcAft>
                <a:spcPts val="500"/>
              </a:spcAft>
              <a:defRPr sz="1250">
                <a:solidFill>
                  <a:srgbClr val="212529"/>
                </a:solidFill>
                <a:latin typeface="Calibri"/>
              </a:defRPr>
            </a:pPr>
            <a:r>
              <a:t>- Ajustements des éducateurs selon période, besoins et compétences.</a:t>
            </a:r>
          </a:p>
          <a:p>
            <a:pPr>
              <a:spcAft>
                <a:spcPts val="500"/>
              </a:spcAft>
              <a:defRPr sz="1250">
                <a:solidFill>
                  <a:srgbClr val="212529"/>
                </a:solidFill>
                <a:latin typeface="Calibri"/>
              </a:defRPr>
            </a:pPr>
            <a:r>
              <a:t>- Certains éducateurs demandent un groupe fixe.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537960"/>
            <a:ext cx="11338560" cy="9144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5624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6A76"/>
                </a:solidFill>
                <a:latin typeface="Calibri"/>
              </a:defRPr>
            </a:pPr>
            <a:r>
              <a:t>Association communautaire - Programme Enfants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6556248"/>
            <a:ext cx="4206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6A76"/>
                </a:solidFill>
                <a:latin typeface="Calibri"/>
              </a:defRPr>
            </a:pPr>
            <a:r>
              <a:t>Rapport d'activité du dimanche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E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73736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Encadrement et environnement pédagogique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56692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417320"/>
            <a:ext cx="5349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04E80"/>
                </a:solidFill>
                <a:latin typeface="Calibri"/>
              </a:defRPr>
            </a:pPr>
            <a:r>
              <a:t>Encadrement des éducateurs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1783080"/>
            <a:ext cx="525780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12529"/>
                </a:solidFill>
                <a:latin typeface="Calibri"/>
              </a:defRPr>
            </a:pPr>
            <a:r>
              <a:t>- Animation des activités, gestion des groupes, sécurité des enfants.</a:t>
            </a:r>
          </a:p>
          <a:p>
            <a:pPr>
              <a:spcAft>
                <a:spcPts val="500"/>
              </a:spcAft>
              <a:defRPr sz="1250">
                <a:solidFill>
                  <a:srgbClr val="212529"/>
                </a:solidFill>
                <a:latin typeface="Calibri"/>
              </a:defRPr>
            </a:pPr>
            <a:r>
              <a:t>- Maintien d’un cadre structuré et ajustements de répartition selon les besoins.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840480"/>
            <a:ext cx="112014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397764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04E80"/>
                </a:solidFill>
                <a:latin typeface="Calibri"/>
              </a:defRPr>
            </a:pPr>
            <a:r>
              <a:t>Conditions matérielles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4343400"/>
            <a:ext cx="107899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12529"/>
                </a:solidFill>
                <a:latin typeface="Calibri"/>
              </a:defRPr>
            </a:pPr>
            <a:r>
              <a:t>- Activités en salle ouverte, sans séparation physique entre les groupes.</a:t>
            </a:r>
          </a:p>
          <a:p>
            <a:pPr>
              <a:spcAft>
                <a:spcPts val="500"/>
              </a:spcAft>
              <a:defRPr sz="1250">
                <a:solidFill>
                  <a:srgbClr val="212529"/>
                </a:solidFill>
                <a:latin typeface="Calibri"/>
              </a:defRPr>
            </a:pPr>
            <a:r>
              <a:t>- Niveau de bruit élevé, diminution de concentration et interférences entre groupes.</a:t>
            </a:r>
          </a:p>
          <a:p>
            <a:pPr>
              <a:spcAft>
                <a:spcPts val="500"/>
              </a:spcAft>
              <a:defRPr sz="1250">
                <a:solidFill>
                  <a:srgbClr val="212529"/>
                </a:solidFill>
                <a:latin typeface="Calibri"/>
              </a:defRPr>
            </a:pPr>
            <a:r>
              <a:t>- Fatigue observée chez certains éducateurs.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977639"/>
            <a:ext cx="1371600" cy="310896"/>
          </a:xfrm>
          <a:prstGeom prst="roundRect">
            <a:avLst/>
          </a:prstGeom>
          <a:solidFill>
            <a:srgbClr val="FFF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4014215"/>
            <a:ext cx="122529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05400"/>
                </a:solidFill>
                <a:latin typeface="Calibri"/>
              </a:defRPr>
            </a:pPr>
            <a:r>
              <a:t>IMPACTS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0" y="3977639"/>
            <a:ext cx="1463040" cy="310896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65792" y="4014215"/>
            <a:ext cx="131673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5B96"/>
                </a:solidFill>
                <a:latin typeface="Calibri"/>
              </a:defRPr>
            </a:pPr>
            <a:r>
              <a:t>ANALYSE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343400"/>
            <a:ext cx="3200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5B96"/>
                </a:solidFill>
                <a:latin typeface="Calibri"/>
              </a:defRPr>
            </a:pPr>
            <a:r>
              <a:t>Cet environnement constitue un facteur limitatif important pour la qualité pédagogique.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6537960"/>
            <a:ext cx="11338560" cy="9144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5624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6A76"/>
                </a:solidFill>
                <a:latin typeface="Calibri"/>
              </a:defRPr>
            </a:pPr>
            <a:r>
              <a:t>Association communautaire - Programme Enfants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6556248"/>
            <a:ext cx="4206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6A76"/>
                </a:solidFill>
                <a:latin typeface="Calibri"/>
              </a:defRPr>
            </a:pPr>
            <a:r>
              <a:t>Rapport d'activité du dimanche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E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73736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Climat interne et ressources humaines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112014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4173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04E80"/>
                </a:solidFill>
                <a:latin typeface="Calibri"/>
              </a:defRPr>
            </a:pPr>
            <a:r>
              <a:t>Engagement, changements et satisfaction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1783080"/>
            <a:ext cx="10789920" cy="446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12529"/>
                </a:solidFill>
                <a:latin typeface="Calibri"/>
              </a:defRPr>
            </a:pPr>
            <a:r>
              <a:t>- Climat de travail globalement fonctionnel et positif.</a:t>
            </a:r>
          </a:p>
          <a:p>
            <a:pPr>
              <a:spcAft>
                <a:spcPts val="500"/>
              </a:spcAft>
              <a:defRPr sz="1250">
                <a:solidFill>
                  <a:srgbClr val="212529"/>
                </a:solidFill>
                <a:latin typeface="Calibri"/>
              </a:defRPr>
            </a:pPr>
            <a:r>
              <a:t>- Difficultés de disponibilité : Mouhamad Mohamad Al Moudalal, Khalil Issa (retour à Alif), Ezzo El Merhebi (blessure), Azza (maladie).</a:t>
            </a:r>
          </a:p>
          <a:p>
            <a:pPr>
              <a:spcAft>
                <a:spcPts val="500"/>
              </a:spcAft>
              <a:defRPr sz="1250">
                <a:solidFill>
                  <a:srgbClr val="212529"/>
                </a:solidFill>
                <a:latin typeface="Calibri"/>
              </a:defRPr>
            </a:pPr>
            <a:r>
              <a:t>- Désistements observés avec peu ou sans préavis, causant des ajustements de dernière minute.</a:t>
            </a:r>
          </a:p>
          <a:p>
            <a:pPr>
              <a:spcAft>
                <a:spcPts val="500"/>
              </a:spcAft>
              <a:defRPr sz="1250">
                <a:solidFill>
                  <a:srgbClr val="212529"/>
                </a:solidFill>
                <a:latin typeface="Calibri"/>
              </a:defRPr>
            </a:pPr>
            <a:r>
              <a:t>- Incident isolé lié à une modification d’horaire (Chihab avec Amira Bisanni), impact limité.</a:t>
            </a:r>
          </a:p>
          <a:p>
            <a:pPr>
              <a:spcAft>
                <a:spcPts val="500"/>
              </a:spcAft>
              <a:defRPr sz="1250">
                <a:solidFill>
                  <a:srgbClr val="212529"/>
                </a:solidFill>
                <a:latin typeface="Calibri"/>
              </a:defRPr>
            </a:pPr>
            <a:r>
              <a:t>- Satisfaction des parents globalement bonne ; un retrait isolé pour niveau jugé insuffisant.</a:t>
            </a:r>
          </a:p>
          <a:p>
            <a:pPr>
              <a:spcAft>
                <a:spcPts val="500"/>
              </a:spcAft>
              <a:defRPr sz="1250">
                <a:solidFill>
                  <a:srgbClr val="212529"/>
                </a:solidFill>
                <a:latin typeface="Calibri"/>
              </a:defRPr>
            </a:pPr>
            <a:r>
              <a:t>- Enfants engagés, concentration parfois réduite par le bruit.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1371600" cy="310896"/>
          </a:xfrm>
          <a:prstGeom prst="roundRect">
            <a:avLst/>
          </a:prstGeom>
          <a:solidFill>
            <a:srgbClr val="FFF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6"/>
            <a:ext cx="122529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05400"/>
                </a:solidFill>
                <a:latin typeface="Calibri"/>
              </a:defRPr>
            </a:pPr>
            <a:r>
              <a:t>IMPACTS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1417320"/>
            <a:ext cx="1463040" cy="310896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59152" y="1453896"/>
            <a:ext cx="131673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5B96"/>
                </a:solidFill>
                <a:latin typeface="Calibri"/>
              </a:defRPr>
            </a:pPr>
            <a:r>
              <a:t>ANALYSE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444752"/>
            <a:ext cx="3383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5B96"/>
                </a:solidFill>
                <a:latin typeface="Calibri"/>
              </a:defRPr>
            </a:pPr>
            <a:r>
              <a:t>Instabilité RH liée au bénévolat, au manque de remplaçants formalisés et à des attentes d’engagement à clarifier.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6537960"/>
            <a:ext cx="11338560" cy="9144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55624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6A76"/>
                </a:solidFill>
                <a:latin typeface="Calibri"/>
              </a:defRPr>
            </a:pPr>
            <a:r>
              <a:t>Association communautaire - Programme Enfants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6556248"/>
            <a:ext cx="4206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6A76"/>
                </a:solidFill>
                <a:latin typeface="Calibri"/>
              </a:defRPr>
            </a:pPr>
            <a:r>
              <a:t>Rapport d'activité du dimanche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E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73736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Finances, matériel et bilan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55778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417320"/>
            <a:ext cx="5257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04E80"/>
                </a:solidFill>
                <a:latin typeface="Calibri"/>
              </a:defRPr>
            </a:pPr>
            <a:r>
              <a:t>Ressources financières et matérielles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1783080"/>
            <a:ext cx="5166360" cy="446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12529"/>
                </a:solidFill>
                <a:latin typeface="Calibri"/>
              </a:defRPr>
            </a:pPr>
            <a:r>
              <a:t>- Financement basé sur les dons des parents.</a:t>
            </a:r>
          </a:p>
          <a:p>
            <a:pPr>
              <a:spcAft>
                <a:spcPts val="500"/>
              </a:spcAft>
              <a:defRPr sz="1250">
                <a:solidFill>
                  <a:srgbClr val="212529"/>
                </a:solidFill>
                <a:latin typeface="Calibri"/>
              </a:defRPr>
            </a:pPr>
            <a:r>
              <a:t>- Aucun financement direct de l’association.</a:t>
            </a:r>
          </a:p>
          <a:p>
            <a:pPr>
              <a:spcAft>
                <a:spcPts val="500"/>
              </a:spcAft>
              <a:defRPr sz="1250">
                <a:solidFill>
                  <a:srgbClr val="212529"/>
                </a:solidFill>
                <a:latin typeface="Calibri"/>
              </a:defRPr>
            </a:pPr>
            <a:r>
              <a:t>- Montant utilisé : environ 2 300 $.</a:t>
            </a:r>
          </a:p>
          <a:p>
            <a:pPr>
              <a:spcAft>
                <a:spcPts val="500"/>
              </a:spcAft>
              <a:defRPr sz="1250">
                <a:solidFill>
                  <a:srgbClr val="212529"/>
                </a:solidFill>
                <a:latin typeface="Calibri"/>
              </a:defRPr>
            </a:pPr>
            <a:r>
              <a:t>- Cahiers individuels + contenu imprimé hebdomadaire.</a:t>
            </a:r>
          </a:p>
          <a:p>
            <a:pPr>
              <a:spcAft>
                <a:spcPts val="500"/>
              </a:spcAft>
              <a:defRPr sz="1250">
                <a:solidFill>
                  <a:srgbClr val="212529"/>
                </a:solidFill>
                <a:latin typeface="Calibri"/>
              </a:defRPr>
            </a:pPr>
            <a:r>
              <a:t>- Certains cahiers sont oubliés ou mal entretenus.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80160"/>
            <a:ext cx="54406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8" y="14173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04E80"/>
                </a:solidFill>
                <a:latin typeface="Calibri"/>
              </a:defRPr>
            </a:pPr>
            <a:r>
              <a:t>Points forts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3096" y="1783080"/>
            <a:ext cx="502920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12529"/>
                </a:solidFill>
                <a:latin typeface="Calibri"/>
              </a:defRPr>
            </a:pPr>
            <a:r>
              <a:t>- Bonne participation et objectifs atteints.</a:t>
            </a:r>
          </a:p>
          <a:p>
            <a:pPr>
              <a:spcAft>
                <a:spcPts val="500"/>
              </a:spcAft>
              <a:defRPr sz="1250">
                <a:solidFill>
                  <a:srgbClr val="212529"/>
                </a:solidFill>
                <a:latin typeface="Calibri"/>
              </a:defRPr>
            </a:pPr>
            <a:r>
              <a:t>- Engagement des parents et des enfants.</a:t>
            </a:r>
          </a:p>
          <a:p>
            <a:pPr>
              <a:spcAft>
                <a:spcPts val="500"/>
              </a:spcAft>
              <a:defRPr sz="1250">
                <a:solidFill>
                  <a:srgbClr val="212529"/>
                </a:solidFill>
                <a:latin typeface="Calibri"/>
              </a:defRPr>
            </a:pPr>
            <a:r>
              <a:t>- Fonctionnement financier autonome.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977639"/>
            <a:ext cx="54406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4114799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04E80"/>
                </a:solidFill>
                <a:latin typeface="Calibri"/>
              </a:defRPr>
            </a:pPr>
            <a:r>
              <a:t>Points à améliorer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4480559"/>
            <a:ext cx="5029200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12529"/>
                </a:solidFill>
                <a:latin typeface="Calibri"/>
              </a:defRPr>
            </a:pPr>
            <a:r>
              <a:t>- Gestion du bruit et de l’espace.</a:t>
            </a:r>
          </a:p>
          <a:p>
            <a:pPr>
              <a:spcAft>
                <a:spcPts val="500"/>
              </a:spcAft>
              <a:defRPr sz="1250">
                <a:solidFill>
                  <a:srgbClr val="212529"/>
                </a:solidFill>
                <a:latin typeface="Calibri"/>
              </a:defRPr>
            </a:pPr>
            <a:r>
              <a:t>- Communication interne et stabilité des éducateurs.</a:t>
            </a:r>
          </a:p>
          <a:p>
            <a:pPr>
              <a:spcAft>
                <a:spcPts val="500"/>
              </a:spcAft>
              <a:defRPr sz="1250">
                <a:solidFill>
                  <a:srgbClr val="212529"/>
                </a:solidFill>
                <a:latin typeface="Calibri"/>
              </a:defRPr>
            </a:pPr>
            <a:r>
              <a:t>- Planification des remplacements et alignement pédagogique.</a:t>
            </a:r>
          </a:p>
          <a:p>
            <a:pPr>
              <a:spcAft>
                <a:spcPts val="500"/>
              </a:spcAft>
              <a:defRPr sz="1250">
                <a:solidFill>
                  <a:srgbClr val="212529"/>
                </a:solidFill>
                <a:latin typeface="Calibri"/>
              </a:defRPr>
            </a:pPr>
            <a:r>
              <a:t>- Dépendance au financement par dons.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417320"/>
            <a:ext cx="1920240" cy="310896"/>
          </a:xfrm>
          <a:prstGeom prst="roundRect">
            <a:avLst/>
          </a:prstGeom>
          <a:solidFill>
            <a:srgbClr val="E8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1453896"/>
            <a:ext cx="177393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7C41"/>
                </a:solidFill>
                <a:latin typeface="Calibri"/>
              </a:defRPr>
            </a:pPr>
            <a:r>
              <a:t>POINTS FORTS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4114800"/>
            <a:ext cx="2011680" cy="310896"/>
          </a:xfrm>
          <a:prstGeom prst="roundRect">
            <a:avLst/>
          </a:prstGeom>
          <a:solidFill>
            <a:srgbClr val="FFE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4151376"/>
            <a:ext cx="186537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42D45"/>
                </a:solidFill>
                <a:latin typeface="Calibri"/>
              </a:defRPr>
            </a:pPr>
            <a:r>
              <a:t>A AMELIORER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537960"/>
            <a:ext cx="11338560" cy="9144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5624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6A76"/>
                </a:solidFill>
                <a:latin typeface="Calibri"/>
              </a:defRPr>
            </a:pPr>
            <a:r>
              <a:t>Association communautaire - Programme Enfants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6556248"/>
            <a:ext cx="4206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6A76"/>
                </a:solidFill>
                <a:latin typeface="Calibri"/>
              </a:defRPr>
            </a:pPr>
            <a:r>
              <a:t>Rapport d'activité du dimanche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E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73736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Conclusion et recommandations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112014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41732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04E80"/>
                </a:solidFill>
                <a:latin typeface="Calibri"/>
              </a:defRPr>
            </a:pPr>
            <a:r>
              <a:t>Plan d’amélioration proposé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1783080"/>
            <a:ext cx="10789920" cy="446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12529"/>
                </a:solidFill>
                <a:latin typeface="Calibri"/>
              </a:defRPr>
            </a:pPr>
            <a:r>
              <a:t>- Conclusion : activité globalement positive et bien structurée ; ajustements nécessaires pour stabilité et qualité constante.</a:t>
            </a:r>
          </a:p>
          <a:p>
            <a:pPr>
              <a:spcAft>
                <a:spcPts val="500"/>
              </a:spcAft>
              <a:defRPr sz="1250">
                <a:solidFill>
                  <a:srgbClr val="212529"/>
                </a:solidFill>
                <a:latin typeface="Calibri"/>
              </a:defRPr>
            </a:pPr>
            <a:r>
              <a:t>- Formaliser la confirmation des disponibilités (déjà amorcé via WhatsApp).</a:t>
            </a:r>
          </a:p>
          <a:p>
            <a:pPr>
              <a:spcAft>
                <a:spcPts val="500"/>
              </a:spcAft>
              <a:defRPr sz="1250">
                <a:solidFill>
                  <a:srgbClr val="212529"/>
                </a:solidFill>
                <a:latin typeface="Calibri"/>
              </a:defRPr>
            </a:pPr>
            <a:r>
              <a:t>- Constituer une liste de remplaçants.</a:t>
            </a:r>
          </a:p>
          <a:p>
            <a:pPr>
              <a:spcAft>
                <a:spcPts val="500"/>
              </a:spcAft>
              <a:defRPr sz="1250">
                <a:solidFill>
                  <a:srgbClr val="212529"/>
                </a:solidFill>
                <a:latin typeface="Calibri"/>
              </a:defRPr>
            </a:pPr>
            <a:r>
              <a:t>- Clarifier les attentes d’engagement (préavis minimal, responsabilités).</a:t>
            </a:r>
          </a:p>
          <a:p>
            <a:pPr>
              <a:spcAft>
                <a:spcPts val="500"/>
              </a:spcAft>
              <a:defRPr sz="1250">
                <a:solidFill>
                  <a:srgbClr val="212529"/>
                </a:solidFill>
                <a:latin typeface="Calibri"/>
              </a:defRPr>
            </a:pPr>
            <a:r>
              <a:t>- Améliorer la communication lors des changements.</a:t>
            </a:r>
          </a:p>
          <a:p>
            <a:pPr>
              <a:spcAft>
                <a:spcPts val="500"/>
              </a:spcAft>
              <a:defRPr sz="1250">
                <a:solidFill>
                  <a:srgbClr val="212529"/>
                </a:solidFill>
                <a:latin typeface="Calibri"/>
              </a:defRPr>
            </a:pPr>
            <a:r>
              <a:t>- Réorganiser l’espace (barrières) pour réduire le bruit.</a:t>
            </a:r>
          </a:p>
          <a:p>
            <a:pPr>
              <a:spcAft>
                <a:spcPts val="500"/>
              </a:spcAft>
              <a:defRPr sz="1250">
                <a:solidFill>
                  <a:srgbClr val="212529"/>
                </a:solidFill>
                <a:latin typeface="Calibri"/>
              </a:defRPr>
            </a:pPr>
            <a:r>
              <a:t>- Explorer des sources de financement plus stables.</a:t>
            </a:r>
          </a:p>
          <a:p>
            <a:pPr>
              <a:spcAft>
                <a:spcPts val="500"/>
              </a:spcAft>
              <a:defRPr sz="1250">
                <a:solidFill>
                  <a:srgbClr val="212529"/>
                </a:solidFill>
                <a:latin typeface="Calibri"/>
              </a:defRPr>
            </a:pPr>
            <a:r>
              <a:t>- Augmenter le cours de religion à 45 min et regrouper les sous-groupes durant ce créneau.</a:t>
            </a:r>
          </a:p>
          <a:p>
            <a:pPr>
              <a:spcAft>
                <a:spcPts val="500"/>
              </a:spcAft>
              <a:defRPr sz="1250">
                <a:solidFill>
                  <a:srgbClr val="212529"/>
                </a:solidFill>
                <a:latin typeface="Calibri"/>
              </a:defRPr>
            </a:pPr>
            <a:r>
              <a:t>- Étudier une solution technologique pour réduire la paperasse et simplifier le suivi parental.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2377440" cy="310896"/>
          </a:xfrm>
          <a:prstGeom prst="round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6"/>
            <a:ext cx="223113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41BF"/>
                </a:solidFill>
                <a:latin typeface="Calibri"/>
              </a:defRPr>
            </a:pPr>
            <a:r>
              <a:t>RECOMMANDATIONS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6537960"/>
            <a:ext cx="11338560" cy="9144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56248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6A76"/>
                </a:solidFill>
                <a:latin typeface="Calibri"/>
              </a:defRPr>
            </a:pPr>
            <a:r>
              <a:t>Association communautaire - Programme Enfants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6556248"/>
            <a:ext cx="4206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06A76"/>
                </a:solidFill>
                <a:latin typeface="Calibri"/>
              </a:defRPr>
            </a:pPr>
            <a:r>
              <a:t>Rapport d'activité du dimanche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