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Points 1 et 2</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1) Objectif de l'activité | 2) Données de participation</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L'activité communautaire du dimanche vise à offrir aux enfants un environnement encadré favorisant leur développement social, éducatif et personnel, tout en renforçant leur intégration au sein de la communauté et leur compréhension de l'association.</a:t>
            </a:r>
          </a:p>
          <a:p>
            <a:pPr>
              <a:spcAft>
                <a:spcPts val="500"/>
              </a:spcAft>
              <a:defRPr sz="1300">
                <a:solidFill>
                  <a:srgbClr val="1B263B"/>
                </a:solidFill>
                <a:latin typeface="Calibri"/>
              </a:defRPr>
            </a:pPr>
            <a:r>
              <a:t>• Nombre total d'inscriptions : 150 enfants</a:t>
            </a:r>
          </a:p>
          <a:p>
            <a:pPr>
              <a:spcAft>
                <a:spcPts val="500"/>
              </a:spcAft>
              <a:defRPr sz="1300">
                <a:solidFill>
                  <a:srgbClr val="1B263B"/>
                </a:solidFill>
                <a:latin typeface="Calibri"/>
              </a:defRPr>
            </a:pPr>
            <a:r>
              <a:t>• Présence hebdomadaire moyenne : entre 80 et 100 enfants</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 3</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3) Organisation des groupes</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Les enfants sont répartis selon leur tranche d'âge :</a:t>
            </a:r>
          </a:p>
          <a:p>
            <a:pPr>
              <a:spcAft>
                <a:spcPts val="500"/>
              </a:spcAft>
              <a:defRPr sz="1300">
                <a:solidFill>
                  <a:srgbClr val="1B263B"/>
                </a:solidFill>
                <a:latin typeface="Calibri"/>
              </a:defRPr>
            </a:pPr>
            <a:r>
              <a:t>• 5 à 6 ans</a:t>
            </a:r>
          </a:p>
          <a:p>
            <a:pPr>
              <a:spcAft>
                <a:spcPts val="500"/>
              </a:spcAft>
              <a:defRPr sz="1300">
                <a:solidFill>
                  <a:srgbClr val="1B263B"/>
                </a:solidFill>
                <a:latin typeface="Calibri"/>
              </a:defRPr>
            </a:pPr>
            <a:r>
              <a:t>• 7 à 8 ans</a:t>
            </a:r>
          </a:p>
          <a:p>
            <a:pPr>
              <a:spcAft>
                <a:spcPts val="500"/>
              </a:spcAft>
              <a:defRPr sz="1300">
                <a:solidFill>
                  <a:srgbClr val="1B263B"/>
                </a:solidFill>
                <a:latin typeface="Calibri"/>
              </a:defRPr>
            </a:pPr>
            <a:r>
              <a:t>• 9 à 10 ans</a:t>
            </a:r>
          </a:p>
          <a:p>
            <a:pPr>
              <a:spcAft>
                <a:spcPts val="500"/>
              </a:spcAft>
              <a:defRPr sz="1300">
                <a:solidFill>
                  <a:srgbClr val="1B263B"/>
                </a:solidFill>
                <a:latin typeface="Calibri"/>
              </a:defRPr>
            </a:pPr>
            <a:r>
              <a:t>• 11 à 12 ans</a:t>
            </a:r>
          </a:p>
          <a:p>
            <a:pPr>
              <a:spcAft>
                <a:spcPts val="500"/>
              </a:spcAft>
              <a:defRPr sz="1300">
                <a:solidFill>
                  <a:srgbClr val="1B263B"/>
                </a:solidFill>
                <a:latin typeface="Calibri"/>
              </a:defRPr>
            </a:pPr>
            <a:r>
              <a:t>Chaque tranche est subdivisée en 2 à 3 groupes afin d'assurer un encadrement adéquat et une meilleure adaptation des activités.</a:t>
            </a:r>
          </a:p>
          <a:p>
            <a:pPr>
              <a:spcAft>
                <a:spcPts val="500"/>
              </a:spcAft>
              <a:defRPr sz="1300">
                <a:solidFill>
                  <a:srgbClr val="1B263B"/>
                </a:solidFill>
                <a:latin typeface="Calibri"/>
              </a:defRPr>
            </a:pPr>
            <a:r>
              <a:t>Les éducateurs passent d'un groupe à l'autre selon la période. Cette décision est prise par le responsable selon la capacité de l'éducateur à enseigner la matière. Les trois périodes de 30 minutes sont : « apprendre par cœur », « la leçon » et « récitation des versets ». Quelques éducateurs ont demandé explicitement d'avoir le même groupe et de ne pas changer.</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 4</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4) Encadrement et rôle des éducateurs</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Les éducateurs assurent :</a:t>
            </a:r>
          </a:p>
          <a:p>
            <a:pPr>
              <a:spcAft>
                <a:spcPts val="500"/>
              </a:spcAft>
              <a:defRPr sz="1300">
                <a:solidFill>
                  <a:srgbClr val="1B263B"/>
                </a:solidFill>
                <a:latin typeface="Calibri"/>
              </a:defRPr>
            </a:pPr>
            <a:r>
              <a:t>• l'animation des activités</a:t>
            </a:r>
          </a:p>
          <a:p>
            <a:pPr>
              <a:spcAft>
                <a:spcPts val="500"/>
              </a:spcAft>
              <a:defRPr sz="1300">
                <a:solidFill>
                  <a:srgbClr val="1B263B"/>
                </a:solidFill>
                <a:latin typeface="Calibri"/>
              </a:defRPr>
            </a:pPr>
            <a:r>
              <a:t>• la gestion des groupes</a:t>
            </a:r>
          </a:p>
          <a:p>
            <a:pPr>
              <a:spcAft>
                <a:spcPts val="500"/>
              </a:spcAft>
              <a:defRPr sz="1300">
                <a:solidFill>
                  <a:srgbClr val="1B263B"/>
                </a:solidFill>
                <a:latin typeface="Calibri"/>
              </a:defRPr>
            </a:pPr>
            <a:r>
              <a:t>• la sécurité des enfants</a:t>
            </a:r>
          </a:p>
          <a:p>
            <a:pPr>
              <a:spcAft>
                <a:spcPts val="500"/>
              </a:spcAft>
              <a:defRPr sz="1300">
                <a:solidFill>
                  <a:srgbClr val="1B263B"/>
                </a:solidFill>
                <a:latin typeface="Calibri"/>
              </a:defRPr>
            </a:pPr>
            <a:r>
              <a:t>• le maintien d'un climat structuré</a:t>
            </a:r>
          </a:p>
          <a:p>
            <a:pPr>
              <a:spcAft>
                <a:spcPts val="500"/>
              </a:spcAft>
              <a:defRPr sz="1300">
                <a:solidFill>
                  <a:srgbClr val="1B263B"/>
                </a:solidFill>
                <a:latin typeface="Calibri"/>
              </a:defRPr>
            </a:pPr>
            <a:r>
              <a:t>Des ajustements dans la répartition des éducateurs sont effectués selon les besoins organisationnels.</a:t>
            </a:r>
          </a:p>
          <a:p>
            <a:pPr>
              <a:spcAft>
                <a:spcPts val="500"/>
              </a:spcAft>
              <a:defRPr sz="1300">
                <a:solidFill>
                  <a:srgbClr val="1B263B"/>
                </a:solidFill>
                <a:latin typeface="Calibri"/>
              </a:defRPr>
            </a:pPr>
            <a:r>
              <a:t>Les éducateurs sont choisis selon la vision du responsable, en fonction de leur aptitude à enseigner à un groupe donné. Certains éducateurs ont eux-mêmes choisi leur groupe d'âge, indiquant ne pas être en mesure d'enseigner aux autres groupes.</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 5</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5) Conditions matérielles et environnement</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Les activités se déroulent dans une salle ouverte, sans séparation physique entre les groupes.</a:t>
            </a:r>
          </a:p>
          <a:p>
            <a:pPr>
              <a:spcAft>
                <a:spcPts val="500"/>
              </a:spcAft>
              <a:defRPr sz="1300">
                <a:solidFill>
                  <a:srgbClr val="1B263B"/>
                </a:solidFill>
                <a:latin typeface="Calibri"/>
              </a:defRPr>
            </a:pPr>
            <a:r>
              <a:t>Impacts observés</a:t>
            </a:r>
          </a:p>
          <a:p>
            <a:pPr>
              <a:spcAft>
                <a:spcPts val="500"/>
              </a:spcAft>
              <a:defRPr sz="1300">
                <a:solidFill>
                  <a:srgbClr val="1B263B"/>
                </a:solidFill>
                <a:latin typeface="Calibri"/>
              </a:defRPr>
            </a:pPr>
            <a:r>
              <a:t>• niveau de bruit élevé</a:t>
            </a:r>
          </a:p>
          <a:p>
            <a:pPr>
              <a:spcAft>
                <a:spcPts val="500"/>
              </a:spcAft>
              <a:defRPr sz="1300">
                <a:solidFill>
                  <a:srgbClr val="1B263B"/>
                </a:solidFill>
                <a:latin typeface="Calibri"/>
              </a:defRPr>
            </a:pPr>
            <a:r>
              <a:t>• diminution de la concentration des enfants</a:t>
            </a:r>
          </a:p>
          <a:p>
            <a:pPr>
              <a:spcAft>
                <a:spcPts val="500"/>
              </a:spcAft>
              <a:defRPr sz="1300">
                <a:solidFill>
                  <a:srgbClr val="1B263B"/>
                </a:solidFill>
                <a:latin typeface="Calibri"/>
              </a:defRPr>
            </a:pPr>
            <a:r>
              <a:t>• interférences entre les groupes</a:t>
            </a:r>
          </a:p>
          <a:p>
            <a:pPr>
              <a:spcAft>
                <a:spcPts val="500"/>
              </a:spcAft>
              <a:defRPr sz="1300">
                <a:solidFill>
                  <a:srgbClr val="1B263B"/>
                </a:solidFill>
                <a:latin typeface="Calibri"/>
              </a:defRPr>
            </a:pPr>
            <a:r>
              <a:t>• fatigue chez certains éducateurs</a:t>
            </a:r>
          </a:p>
          <a:p>
            <a:pPr>
              <a:spcAft>
                <a:spcPts val="500"/>
              </a:spcAft>
              <a:defRPr sz="1300">
                <a:solidFill>
                  <a:srgbClr val="1B263B"/>
                </a:solidFill>
                <a:latin typeface="Calibri"/>
              </a:defRPr>
            </a:pPr>
            <a:r>
              <a:t>Analyse</a:t>
            </a:r>
          </a:p>
          <a:p>
            <a:pPr>
              <a:spcAft>
                <a:spcPts val="500"/>
              </a:spcAft>
              <a:defRPr sz="1300">
                <a:solidFill>
                  <a:srgbClr val="1B263B"/>
                </a:solidFill>
                <a:latin typeface="Calibri"/>
              </a:defRPr>
            </a:pPr>
            <a:r>
              <a:t>Cet environnement constitue un facteur limitatif important pour la qualité pédagogique.</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 6</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6) Climat de travail et gestion interne</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Le climat de travail est globalement fonctionnel et positif, mais certains enjeux organisationnels ont été identifiés.</a:t>
            </a:r>
          </a:p>
          <a:p>
            <a:pPr>
              <a:spcAft>
                <a:spcPts val="500"/>
              </a:spcAft>
              <a:defRPr sz="1300">
                <a:solidFill>
                  <a:srgbClr val="1B263B"/>
                </a:solidFill>
                <a:latin typeface="Calibri"/>
              </a:defRPr>
            </a:pPr>
            <a:r>
              <a:t>a) Engagement des éducateurs</a:t>
            </a:r>
          </a:p>
          <a:p>
            <a:pPr>
              <a:spcAft>
                <a:spcPts val="500"/>
              </a:spcAft>
              <a:defRPr sz="1300">
                <a:solidFill>
                  <a:srgbClr val="1B263B"/>
                </a:solidFill>
                <a:latin typeface="Calibri"/>
              </a:defRPr>
            </a:pPr>
            <a:r>
              <a:t>Une responsable a signalé des difficultés liées à l'engagement et à la disponibilité des éducateurs :</a:t>
            </a:r>
          </a:p>
          <a:p>
            <a:pPr>
              <a:spcAft>
                <a:spcPts val="500"/>
              </a:spcAft>
              <a:defRPr sz="1300">
                <a:solidFill>
                  <a:srgbClr val="1B263B"/>
                </a:solidFill>
                <a:latin typeface="Calibri"/>
              </a:defRPr>
            </a:pPr>
            <a:r>
              <a:t>• Mouhamad Mohamad Al Moudalal (retour à Alif)</a:t>
            </a:r>
          </a:p>
          <a:p>
            <a:pPr>
              <a:spcAft>
                <a:spcPts val="500"/>
              </a:spcAft>
              <a:defRPr sz="1300">
                <a:solidFill>
                  <a:srgbClr val="1B263B"/>
                </a:solidFill>
                <a:latin typeface="Calibri"/>
              </a:defRPr>
            </a:pPr>
            <a:r>
              <a:t>• Khalil Issa (retour à Alif)</a:t>
            </a:r>
          </a:p>
          <a:p>
            <a:pPr>
              <a:spcAft>
                <a:spcPts val="500"/>
              </a:spcAft>
              <a:defRPr sz="1300">
                <a:solidFill>
                  <a:srgbClr val="1B263B"/>
                </a:solidFill>
                <a:latin typeface="Calibri"/>
              </a:defRPr>
            </a:pPr>
            <a:r>
              <a:t>• Ezzo El Merhebi (blessure)</a:t>
            </a:r>
          </a:p>
          <a:p>
            <a:pPr>
              <a:spcAft>
                <a:spcPts val="500"/>
              </a:spcAft>
              <a:defRPr sz="1300">
                <a:solidFill>
                  <a:srgbClr val="1B263B"/>
                </a:solidFill>
                <a:latin typeface="Calibri"/>
              </a:defRPr>
            </a:pPr>
            <a:r>
              <a:t>• Azza (maladie)</a:t>
            </a:r>
          </a:p>
          <a:p>
            <a:pPr>
              <a:spcAft>
                <a:spcPts val="500"/>
              </a:spcAft>
              <a:defRPr sz="1300">
                <a:solidFill>
                  <a:srgbClr val="1B263B"/>
                </a:solidFill>
                <a:latin typeface="Calibri"/>
              </a:defRPr>
            </a:pPr>
            <a:r>
              <a:t>Certains éducateurs se sont engagés initialement, mais ont dû se retirer pour des raisons personnelles. Des cas de désistement avec peu ou sans préavis ont été observés.</a:t>
            </a:r>
          </a:p>
          <a:p>
            <a:pPr>
              <a:spcAft>
                <a:spcPts val="500"/>
              </a:spcAft>
              <a:defRPr sz="1300">
                <a:solidFill>
                  <a:srgbClr val="1B263B"/>
                </a:solidFill>
                <a:latin typeface="Calibri"/>
              </a:defRPr>
            </a:pPr>
            <a:r>
              <a:t>Impacts : désorganisation ponctuelle des groupes, pression accrue sur les éducateurs présents, ajustements de dernière minute.</a:t>
            </a:r>
          </a:p>
          <a:p>
            <a:pPr>
              <a:spcAft>
                <a:spcPts val="500"/>
              </a:spcAft>
              <a:defRPr sz="1300">
                <a:solidFill>
                  <a:srgbClr val="1B263B"/>
                </a:solidFill>
                <a:latin typeface="Calibri"/>
              </a:defRPr>
            </a:pPr>
            <a:r>
              <a:t>Analyse : Ces situations indiquent une instabilité au niveau des ressources humaines, probablement liée à un engagement informel ou bénévole, à l'absence de mécanismes formels de remplacement et à un manque de cadre clair concernant les attentes d'engagement.</a:t>
            </a:r>
          </a:p>
          <a:p>
            <a:pPr>
              <a:spcAft>
                <a:spcPts val="500"/>
              </a:spcAft>
              <a:defRPr sz="1300">
                <a:solidFill>
                  <a:srgbClr val="1B263B"/>
                </a:solidFill>
                <a:latin typeface="Calibri"/>
              </a:defRPr>
            </a:pPr>
            <a:r>
              <a:t>b) Gestion des changements : un incident a été observé ; un éducateur a manifesté son insatisfaction à la suite d'une modification de son horaire (retrait d'un second cours) (Chihab avec Amira Bisanni).</a:t>
            </a:r>
          </a:p>
          <a:p>
            <a:pPr>
              <a:spcAft>
                <a:spcPts val="500"/>
              </a:spcAft>
              <a:defRPr sz="1300">
                <a:solidFill>
                  <a:srgbClr val="1B263B"/>
                </a:solidFill>
                <a:latin typeface="Calibri"/>
              </a:defRPr>
            </a:pPr>
            <a:r>
              <a:t>Analyse : manque de communication préalable, situation isolée et impact limité.</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Points 7, 8 et 9</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7) Satisfaction des parents | 8) Satisfaction et engagement des enfants | 9) Gestion financière et ressources matérielles</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7) La satisfaction générale est bonne.</a:t>
            </a:r>
          </a:p>
          <a:p>
            <a:pPr>
              <a:spcAft>
                <a:spcPts val="500"/>
              </a:spcAft>
              <a:defRPr sz="1300">
                <a:solidFill>
                  <a:srgbClr val="1B263B"/>
                </a:solidFill>
                <a:latin typeface="Calibri"/>
              </a:defRPr>
            </a:pPr>
            <a:r>
              <a:t>Situation observée :</a:t>
            </a:r>
          </a:p>
          <a:p>
            <a:pPr>
              <a:spcAft>
                <a:spcPts val="500"/>
              </a:spcAft>
              <a:defRPr sz="1300">
                <a:solidFill>
                  <a:srgbClr val="1B263B"/>
                </a:solidFill>
                <a:latin typeface="Calibri"/>
              </a:defRPr>
            </a:pPr>
            <a:r>
              <a:t>• un parent a retiré ses enfants en raison d'un niveau jugé insuffisant</a:t>
            </a:r>
          </a:p>
          <a:p>
            <a:pPr>
              <a:spcAft>
                <a:spcPts val="500"/>
              </a:spcAft>
              <a:defRPr sz="1300">
                <a:solidFill>
                  <a:srgbClr val="1B263B"/>
                </a:solidFill>
                <a:latin typeface="Calibri"/>
              </a:defRPr>
            </a:pPr>
            <a:r>
              <a:t>• orientation vers des cours privés</a:t>
            </a:r>
          </a:p>
          <a:p>
            <a:pPr>
              <a:spcAft>
                <a:spcPts val="500"/>
              </a:spcAft>
              <a:defRPr sz="1300">
                <a:solidFill>
                  <a:srgbClr val="1B263B"/>
                </a:solidFill>
                <a:latin typeface="Calibri"/>
              </a:defRPr>
            </a:pPr>
            <a:r>
              <a:t>Analyse : cas isolé, aucune tendance de plaintes récurrentes.</a:t>
            </a:r>
          </a:p>
          <a:p>
            <a:pPr>
              <a:spcAft>
                <a:spcPts val="500"/>
              </a:spcAft>
              <a:defRPr sz="1300">
                <a:solidFill>
                  <a:srgbClr val="1B263B"/>
                </a:solidFill>
                <a:latin typeface="Calibri"/>
              </a:defRPr>
            </a:pPr>
            <a:r>
              <a:t>8) Les enfants sont généralement engagés et participatifs, bien que leur concentration soit parfois affectée par le bruit.</a:t>
            </a:r>
          </a:p>
          <a:p>
            <a:pPr>
              <a:spcAft>
                <a:spcPts val="500"/>
              </a:spcAft>
              <a:defRPr sz="1300">
                <a:solidFill>
                  <a:srgbClr val="1B263B"/>
                </a:solidFill>
                <a:latin typeface="Calibri"/>
              </a:defRPr>
            </a:pPr>
            <a:r>
              <a:t>9) • Financement basé sur les dons des parents</a:t>
            </a:r>
          </a:p>
          <a:p>
            <a:pPr>
              <a:spcAft>
                <a:spcPts val="500"/>
              </a:spcAft>
              <a:defRPr sz="1300">
                <a:solidFill>
                  <a:srgbClr val="1B263B"/>
                </a:solidFill>
                <a:latin typeface="Calibri"/>
              </a:defRPr>
            </a:pPr>
            <a:r>
              <a:t>• Aucun financement direct de l'association</a:t>
            </a:r>
          </a:p>
          <a:p>
            <a:pPr>
              <a:spcAft>
                <a:spcPts val="500"/>
              </a:spcAft>
              <a:defRPr sz="1300">
                <a:solidFill>
                  <a:srgbClr val="1B263B"/>
                </a:solidFill>
                <a:latin typeface="Calibri"/>
              </a:defRPr>
            </a:pPr>
            <a:r>
              <a:t>• Montant utilisé : environ 2 300 $</a:t>
            </a:r>
          </a:p>
          <a:p>
            <a:pPr>
              <a:spcAft>
                <a:spcPts val="500"/>
              </a:spcAft>
              <a:defRPr sz="1300">
                <a:solidFill>
                  <a:srgbClr val="1B263B"/>
                </a:solidFill>
                <a:latin typeface="Calibri"/>
              </a:defRPr>
            </a:pPr>
            <a:r>
              <a:t>Matériel : • Cahiers individuels pour chaque enfant • Ajout hebdomadaire de contenu imprimé</a:t>
            </a:r>
          </a:p>
          <a:p>
            <a:pPr>
              <a:spcAft>
                <a:spcPts val="500"/>
              </a:spcAft>
              <a:defRPr sz="1300">
                <a:solidFill>
                  <a:srgbClr val="1B263B"/>
                </a:solidFill>
                <a:latin typeface="Calibri"/>
              </a:defRPr>
            </a:pPr>
            <a:r>
              <a:t>Certains enfants oublient souvent leur cahier à la maison ou celui-ci est mal entretenu.</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Points 10, 11 et 12</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10) Points forts | 11) Points à améliorer | 12) Conclusion</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10) Points forts</a:t>
            </a:r>
          </a:p>
          <a:p>
            <a:pPr>
              <a:spcAft>
                <a:spcPts val="500"/>
              </a:spcAft>
              <a:defRPr sz="1300">
                <a:solidFill>
                  <a:srgbClr val="1B263B"/>
                </a:solidFill>
                <a:latin typeface="Calibri"/>
              </a:defRPr>
            </a:pPr>
            <a:r>
              <a:t>• Bonne participation</a:t>
            </a:r>
          </a:p>
          <a:p>
            <a:pPr>
              <a:spcAft>
                <a:spcPts val="500"/>
              </a:spcAft>
              <a:defRPr sz="1300">
                <a:solidFill>
                  <a:srgbClr val="1B263B"/>
                </a:solidFill>
                <a:latin typeface="Calibri"/>
              </a:defRPr>
            </a:pPr>
            <a:r>
              <a:t>• Notre but est atteint</a:t>
            </a:r>
          </a:p>
          <a:p>
            <a:pPr>
              <a:spcAft>
                <a:spcPts val="500"/>
              </a:spcAft>
              <a:defRPr sz="1300">
                <a:solidFill>
                  <a:srgbClr val="1B263B"/>
                </a:solidFill>
                <a:latin typeface="Calibri"/>
              </a:defRPr>
            </a:pPr>
            <a:r>
              <a:t>• Engagement des parents</a:t>
            </a:r>
          </a:p>
          <a:p>
            <a:pPr>
              <a:spcAft>
                <a:spcPts val="500"/>
              </a:spcAft>
              <a:defRPr sz="1300">
                <a:solidFill>
                  <a:srgbClr val="1B263B"/>
                </a:solidFill>
                <a:latin typeface="Calibri"/>
              </a:defRPr>
            </a:pPr>
            <a:r>
              <a:t>• Engagement des enfants</a:t>
            </a:r>
          </a:p>
          <a:p>
            <a:pPr>
              <a:spcAft>
                <a:spcPts val="500"/>
              </a:spcAft>
              <a:defRPr sz="1300">
                <a:solidFill>
                  <a:srgbClr val="1B263B"/>
                </a:solidFill>
                <a:latin typeface="Calibri"/>
              </a:defRPr>
            </a:pPr>
            <a:r>
              <a:t>• Fonctionnement financier autonome</a:t>
            </a:r>
          </a:p>
          <a:p>
            <a:pPr>
              <a:spcAft>
                <a:spcPts val="500"/>
              </a:spcAft>
              <a:defRPr sz="1300">
                <a:solidFill>
                  <a:srgbClr val="1B263B"/>
                </a:solidFill>
                <a:latin typeface="Calibri"/>
              </a:defRPr>
            </a:pPr>
            <a:r>
              <a:t>11) Points à améliorer</a:t>
            </a:r>
          </a:p>
          <a:p>
            <a:pPr>
              <a:spcAft>
                <a:spcPts val="500"/>
              </a:spcAft>
              <a:defRPr sz="1300">
                <a:solidFill>
                  <a:srgbClr val="1B263B"/>
                </a:solidFill>
                <a:latin typeface="Calibri"/>
              </a:defRPr>
            </a:pPr>
            <a:r>
              <a:t>• Gestion du bruit et de l'espace</a:t>
            </a:r>
          </a:p>
          <a:p>
            <a:pPr>
              <a:spcAft>
                <a:spcPts val="500"/>
              </a:spcAft>
              <a:defRPr sz="1300">
                <a:solidFill>
                  <a:srgbClr val="1B263B"/>
                </a:solidFill>
                <a:latin typeface="Calibri"/>
              </a:defRPr>
            </a:pPr>
            <a:r>
              <a:t>• Communication interne</a:t>
            </a:r>
          </a:p>
          <a:p>
            <a:pPr>
              <a:spcAft>
                <a:spcPts val="500"/>
              </a:spcAft>
              <a:defRPr sz="1300">
                <a:solidFill>
                  <a:srgbClr val="1B263B"/>
                </a:solidFill>
                <a:latin typeface="Calibri"/>
              </a:defRPr>
            </a:pPr>
            <a:r>
              <a:t>• Stabilité et engagement des éducateurs</a:t>
            </a:r>
          </a:p>
          <a:p>
            <a:pPr>
              <a:spcAft>
                <a:spcPts val="500"/>
              </a:spcAft>
              <a:defRPr sz="1300">
                <a:solidFill>
                  <a:srgbClr val="1B263B"/>
                </a:solidFill>
                <a:latin typeface="Calibri"/>
              </a:defRPr>
            </a:pPr>
            <a:r>
              <a:t>• Planification des remplacements</a:t>
            </a:r>
          </a:p>
          <a:p>
            <a:pPr>
              <a:spcAft>
                <a:spcPts val="500"/>
              </a:spcAft>
              <a:defRPr sz="1300">
                <a:solidFill>
                  <a:srgbClr val="1B263B"/>
                </a:solidFill>
                <a:latin typeface="Calibri"/>
              </a:defRPr>
            </a:pPr>
            <a:r>
              <a:t>• Alignement des attentes pédagogiques</a:t>
            </a:r>
          </a:p>
          <a:p>
            <a:pPr>
              <a:spcAft>
                <a:spcPts val="500"/>
              </a:spcAft>
              <a:defRPr sz="1300">
                <a:solidFill>
                  <a:srgbClr val="1B263B"/>
                </a:solidFill>
                <a:latin typeface="Calibri"/>
              </a:defRPr>
            </a:pPr>
            <a:r>
              <a:t>• Dépendance au financement par dons</a:t>
            </a:r>
          </a:p>
          <a:p>
            <a:pPr>
              <a:spcAft>
                <a:spcPts val="500"/>
              </a:spcAft>
              <a:defRPr sz="1300">
                <a:solidFill>
                  <a:srgbClr val="1B263B"/>
                </a:solidFill>
                <a:latin typeface="Calibri"/>
              </a:defRPr>
            </a:pPr>
            <a:r>
              <a:t>12) L'activité est globalement positive et bien structurée. Toutefois, certains défis organisationnels, notamment liés à l'environnement physique et à la gestion des ressources humaines, nécessitent des ajustements afin d'assurer une meilleure stabilité et une qualité constante des services offerts.</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155680" cy="457200"/>
          </a:xfrm>
          <a:prstGeom prst="rect">
            <a:avLst/>
          </a:prstGeom>
          <a:noFill/>
        </p:spPr>
        <p:txBody>
          <a:bodyPr wrap="none">
            <a:spAutoFit/>
          </a:bodyPr>
          <a:lstStyle/>
          <a:p>
            <a:pPr>
              <a:defRPr sz="2400" b="1">
                <a:solidFill>
                  <a:srgbClr val="FFFFFF"/>
                </a:solidFill>
                <a:latin typeface="Calibri"/>
              </a:defRPr>
            </a:pPr>
            <a:r>
              <a:t>Point 13</a:t>
            </a:r>
          </a:p>
        </p:txBody>
      </p:sp>
      <p:sp>
        <p:nvSpPr>
          <p:cNvPr id="5" name="Rounded Rectangle 4"/>
          <p:cNvSpPr/>
          <p:nvPr/>
        </p:nvSpPr>
        <p:spPr>
          <a:xfrm>
            <a:off x="502920" y="1143000"/>
            <a:ext cx="11201400" cy="52578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11201400" cy="4572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43584"/>
            <a:ext cx="10881360" cy="274320"/>
          </a:xfrm>
          <a:prstGeom prst="rect">
            <a:avLst/>
          </a:prstGeom>
          <a:noFill/>
        </p:spPr>
        <p:txBody>
          <a:bodyPr wrap="none">
            <a:spAutoFit/>
          </a:bodyPr>
          <a:lstStyle/>
          <a:p>
            <a:pPr>
              <a:defRPr sz="1300" b="1">
                <a:solidFill>
                  <a:srgbClr val="FFFFFF"/>
                </a:solidFill>
                <a:latin typeface="Calibri"/>
              </a:defRPr>
            </a:pPr>
            <a:r>
              <a:t>13) Recommandations</a:t>
            </a:r>
          </a:p>
        </p:txBody>
      </p:sp>
      <p:sp>
        <p:nvSpPr>
          <p:cNvPr id="8" name="TextBox 7"/>
          <p:cNvSpPr txBox="1"/>
          <p:nvPr/>
        </p:nvSpPr>
        <p:spPr>
          <a:xfrm>
            <a:off x="777240" y="1737360"/>
            <a:ext cx="10698480" cy="4526280"/>
          </a:xfrm>
          <a:prstGeom prst="rect">
            <a:avLst/>
          </a:prstGeom>
          <a:noFill/>
        </p:spPr>
        <p:txBody>
          <a:bodyPr wrap="square">
            <a:spAutoFit/>
          </a:bodyPr>
          <a:lstStyle/>
          <a:p>
            <a:pPr>
              <a:spcAft>
                <a:spcPts val="500"/>
              </a:spcAft>
              <a:defRPr sz="1300">
                <a:solidFill>
                  <a:srgbClr val="1B263B"/>
                </a:solidFill>
                <a:latin typeface="Calibri"/>
              </a:defRPr>
            </a:pPr>
            <a:r>
              <a:t>• Mettre en place un processus de confirmation des disponibilités des éducateurs (déjà en place sur le groupe WhatsApp)</a:t>
            </a:r>
          </a:p>
          <a:p>
            <a:pPr>
              <a:spcAft>
                <a:spcPts val="500"/>
              </a:spcAft>
              <a:defRPr sz="1300">
                <a:solidFill>
                  <a:srgbClr val="1B263B"/>
                </a:solidFill>
                <a:latin typeface="Calibri"/>
              </a:defRPr>
            </a:pPr>
            <a:r>
              <a:t>• Faire une liste de remplaçants</a:t>
            </a:r>
          </a:p>
          <a:p>
            <a:pPr>
              <a:spcAft>
                <a:spcPts val="500"/>
              </a:spcAft>
              <a:defRPr sz="1300">
                <a:solidFill>
                  <a:srgbClr val="1B263B"/>
                </a:solidFill>
                <a:latin typeface="Calibri"/>
              </a:defRPr>
            </a:pPr>
            <a:r>
              <a:t>• Clarifier les attentes d'engagement (préavis minimal, responsabilités)</a:t>
            </a:r>
          </a:p>
          <a:p>
            <a:pPr>
              <a:spcAft>
                <a:spcPts val="500"/>
              </a:spcAft>
              <a:defRPr sz="1300">
                <a:solidFill>
                  <a:srgbClr val="1B263B"/>
                </a:solidFill>
                <a:latin typeface="Calibri"/>
              </a:defRPr>
            </a:pPr>
            <a:r>
              <a:t>• Améliorer la communication lors des changements</a:t>
            </a:r>
          </a:p>
          <a:p>
            <a:pPr>
              <a:spcAft>
                <a:spcPts val="500"/>
              </a:spcAft>
              <a:defRPr sz="1300">
                <a:solidFill>
                  <a:srgbClr val="1B263B"/>
                </a:solidFill>
                <a:latin typeface="Calibri"/>
              </a:defRPr>
            </a:pPr>
            <a:r>
              <a:t>• Réorganiser l'espace pour réduire le bruit (barrières pour isoler les groupes)</a:t>
            </a:r>
          </a:p>
          <a:p>
            <a:pPr>
              <a:spcAft>
                <a:spcPts val="500"/>
              </a:spcAft>
              <a:defRPr sz="1300">
                <a:solidFill>
                  <a:srgbClr val="1B263B"/>
                </a:solidFill>
                <a:latin typeface="Calibri"/>
              </a:defRPr>
            </a:pPr>
            <a:r>
              <a:t>• Explorer des sources de financement plus stables</a:t>
            </a:r>
          </a:p>
          <a:p>
            <a:pPr>
              <a:spcAft>
                <a:spcPts val="500"/>
              </a:spcAft>
              <a:defRPr sz="1300">
                <a:solidFill>
                  <a:srgbClr val="1B263B"/>
                </a:solidFill>
                <a:latin typeface="Calibri"/>
              </a:defRPr>
            </a:pPr>
            <a:r>
              <a:t>• Augmenter le temps du cours de religion de 30 min à 45 min pour s'assurer que l'information est bien transmise</a:t>
            </a:r>
          </a:p>
          <a:p>
            <a:pPr>
              <a:spcAft>
                <a:spcPts val="500"/>
              </a:spcAft>
              <a:defRPr sz="1300">
                <a:solidFill>
                  <a:srgbClr val="1B263B"/>
                </a:solidFill>
                <a:latin typeface="Calibri"/>
              </a:defRPr>
            </a:pPr>
            <a:r>
              <a:t>• Regrouper les 3 sous-groupes en un seul groupe pour le cours de religion ; les 2 autres éducateurs, durant ces 45 minutes, surveillent et organisent les enfants</a:t>
            </a:r>
          </a:p>
          <a:p>
            <a:pPr>
              <a:spcAft>
                <a:spcPts val="500"/>
              </a:spcAft>
              <a:defRPr sz="1300">
                <a:solidFill>
                  <a:srgbClr val="1B263B"/>
                </a:solidFill>
                <a:latin typeface="Calibri"/>
              </a:defRPr>
            </a:pPr>
            <a:r>
              <a:t>• Mettre en place une idée technologique moderne pour éviter l'imprimerie et la paperasse excessive, et simplifier la gestion pour les parents</a:t>
            </a:r>
          </a:p>
          <a:p>
            <a:pPr>
              <a:spcAft>
                <a:spcPts val="500"/>
              </a:spcAft>
              <a:defRPr sz="1300">
                <a:solidFill>
                  <a:srgbClr val="B91C1C"/>
                </a:solidFill>
                <a:latin typeface="Calibri"/>
              </a:defRPr>
            </a:pPr>
            <a:r>
              <a:t>• Rénover et aménager des salles de classe fermées dans la section arrière du centre afin d'officialiser l'activité et de la monétiser. De nombreux parents recherchent ce type de cours privés pour leurs enfants.</a:t>
            </a:r>
          </a:p>
        </p:txBody>
      </p:sp>
      <p:sp>
        <p:nvSpPr>
          <p:cNvPr id="9" name="TextBox 8"/>
          <p:cNvSpPr txBox="1"/>
          <p:nvPr/>
        </p:nvSpPr>
        <p:spPr>
          <a:xfrm>
            <a:off x="411480" y="6556248"/>
            <a:ext cx="11338560" cy="182880"/>
          </a:xfrm>
          <a:prstGeom prst="rect">
            <a:avLst/>
          </a:prstGeom>
          <a:noFill/>
        </p:spPr>
        <p:txBody>
          <a:bodyPr wrap="none">
            <a:spAutoFit/>
          </a:bodyPr>
          <a:lstStyle/>
          <a:p>
            <a:pPr>
              <a:defRPr sz="1000">
                <a:solidFill>
                  <a:srgbClr val="5C677D"/>
                </a:solidFill>
                <a:latin typeface="Calibri"/>
              </a:defRPr>
            </a:pPr>
            <a:r>
              <a:t>Rapport d'activité communautaire - Enfants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