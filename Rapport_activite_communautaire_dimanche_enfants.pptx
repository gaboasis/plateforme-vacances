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1F3864"/>
                </a:solidFill>
              </a:defRPr>
            </a:pPr>
            <a:r>
              <a:t>Rapport sur l'activité communautaire du dimanche – Enfants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595959"/>
                </a:solidFill>
              </a:defRPr>
            </a:pPr>
            <a:r>
              <a:t>Présentation synthèse (version professionnelle)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3864"/>
                </a:solidFill>
              </a:defRPr>
            </a:pPr>
            <a:r>
              <a:t>1) Objectif, participation et organisation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Objectif : offrir un cadre structuré favorisant le développement social, éducatif et personnel des enfants.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Renforcer l'intégration des enfants au sein de la communauté et transmettre la mission de l'association.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Nombre total d'inscriptions : 150 enfants.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Présence hebdomadaire moyenne : entre 80 et 100 enfants.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Répartition par tranches d'âge : 5–6, 7–8, 9–10, 11–12 ans.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Chaque tranche est divisée en 2 à 3 sous-groupes pour un encadrement adapté.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Organisation pédagogique (3 x 30 min) : apprentissage par cœur, leçon, récitation des versets.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Les éducateurs peuvent être déplacés selon la période, les besoins et les compétences pédagogiques.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3864"/>
                </a:solidFill>
              </a:defRPr>
            </a:pPr>
            <a:r>
              <a:t>2) Encadrement, conditions matérielles et climat interne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Rôle des éducateurs : animation, gestion des groupes, sécurité des enfants, maintien d'un cadre structuré.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Des ajustements de répartition sont effectués selon les besoins organisationnels.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Certains éducateurs préfèrent des tranches d'âge spécifiques.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Conditions matérielles : activités en salle ouverte, sans séparation physique entre les groupes.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Impacts observés : bruit élevé, baisse de concentration, interférences entre groupes, fatigue de certains éducateurs.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Analyse : l'environnement actuel limite la qualité pédagogique.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Climat de travail globalement fonctionnel et positif, avec des enjeux organisationnels ponctuels.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3864"/>
                </a:solidFill>
              </a:defRPr>
            </a:pPr>
            <a:r>
              <a:t>3) Ressources humaines, satisfaction et finances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t>Difficultés de disponibilité signalées : Mouhamad Mohamad Al Moudalal, Khalil Issa, Ezzo El Merhebi, Azza.</a:t>
            </a:r>
          </a:p>
          <a:p>
            <a:pPr>
              <a:defRPr sz="1500">
                <a:solidFill>
                  <a:srgbClr val="000000"/>
                </a:solidFill>
              </a:defRPr>
            </a:pPr>
            <a:r>
              <a:t>Causes : retours à Alif, blessure, maladie.</a:t>
            </a:r>
          </a:p>
          <a:p>
            <a:pPr>
              <a:defRPr sz="1500">
                <a:solidFill>
                  <a:srgbClr val="000000"/>
                </a:solidFill>
              </a:defRPr>
            </a:pPr>
            <a:r>
              <a:t>Constats : désistements avec peu ou sans préavis ; impacts sur l'organisation et pression accrue sur l'équipe présente.</a:t>
            </a:r>
          </a:p>
          <a:p>
            <a:pPr>
              <a:defRPr sz="1500">
                <a:solidFill>
                  <a:srgbClr val="000000"/>
                </a:solidFill>
              </a:defRPr>
            </a:pPr>
            <a:r>
              <a:t>Analyse : engagement principalement bénévole, mécanismes de remplacement insuffisamment formalisés.</a:t>
            </a:r>
          </a:p>
          <a:p>
            <a:pPr>
              <a:defRPr sz="1500">
                <a:solidFill>
                  <a:srgbClr val="000000"/>
                </a:solidFill>
              </a:defRPr>
            </a:pPr>
            <a:r>
              <a:t>Gestion des changements : un incident isolé d'insatisfaction lié à une modification d'horaire (Chihab / Amira Bisanni).</a:t>
            </a:r>
          </a:p>
          <a:p>
            <a:pPr>
              <a:defRPr sz="1500">
                <a:solidFill>
                  <a:srgbClr val="000000"/>
                </a:solidFill>
              </a:defRPr>
            </a:pPr>
            <a:r>
              <a:t>Satisfaction des parents globalement bonne ; un retrait isolé pour niveau jugé insuffisant (orientation vers cours privés).</a:t>
            </a:r>
          </a:p>
          <a:p>
            <a:pPr>
              <a:defRPr sz="1500">
                <a:solidFill>
                  <a:srgbClr val="000000"/>
                </a:solidFill>
              </a:defRPr>
            </a:pPr>
            <a:r>
              <a:t>Enfants globalement engagés et participatifs, avec concentration parfois affectée par le bruit.</a:t>
            </a:r>
          </a:p>
          <a:p>
            <a:pPr>
              <a:defRPr sz="1500">
                <a:solidFill>
                  <a:srgbClr val="000000"/>
                </a:solidFill>
              </a:defRPr>
            </a:pPr>
            <a:r>
              <a:t>Financement : dons des parents, aucun financement direct de l'association ; montant utilisé : environ 2 300 $.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3864"/>
                </a:solidFill>
              </a:defRPr>
            </a:pPr>
            <a:r>
              <a:t>4) Ressources matérielles, points forts et points à améliorer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Ressources matérielles : cahier individuel pour chaque enfant + contenu imprimé ajouté chaque semaine.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Observation : certains enfants oublient leur cahier ou l'entretiennent insuffisamment.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Points forts : bonne participation, objectifs principaux atteints, engagement des parents et des enfants, autonomie financière.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Points à améliorer : gestion du bruit et de l'espace.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Points à améliorer : communication interne et alignement des attentes pédagogiques.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Points à améliorer : stabilité des éducateurs et planification des remplacements.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Points à améliorer : dépendance au financement par dons.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3864"/>
                </a:solidFill>
              </a:defRPr>
            </a:pPr>
            <a:r>
              <a:t>5) Conclusion et recommandations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t>Conclusion : activité globalement positive et bien structurée, avec des ajustements nécessaires pour assurer stabilité et qualité constante.</a:t>
            </a:r>
          </a:p>
          <a:p>
            <a:pPr>
              <a:defRPr sz="1500">
                <a:solidFill>
                  <a:srgbClr val="000000"/>
                </a:solidFill>
              </a:defRPr>
            </a:pPr>
            <a:r>
              <a:t>Mettre en place un processus formel de confirmation des disponibilités (déjà amorcé via WhatsApp).</a:t>
            </a:r>
          </a:p>
          <a:p>
            <a:pPr>
              <a:defRPr sz="1500">
                <a:solidFill>
                  <a:srgbClr val="000000"/>
                </a:solidFill>
              </a:defRPr>
            </a:pPr>
            <a:r>
              <a:t>Constituer une liste de remplaçants.</a:t>
            </a:r>
          </a:p>
          <a:p>
            <a:pPr>
              <a:defRPr sz="1500">
                <a:solidFill>
                  <a:srgbClr val="000000"/>
                </a:solidFill>
              </a:defRPr>
            </a:pPr>
            <a:r>
              <a:t>Clarifier les attentes d'engagement (préavis minimal, responsabilités).</a:t>
            </a:r>
          </a:p>
          <a:p>
            <a:pPr>
              <a:defRPr sz="1500">
                <a:solidFill>
                  <a:srgbClr val="000000"/>
                </a:solidFill>
              </a:defRPr>
            </a:pPr>
            <a:r>
              <a:t>Améliorer la communication lors des changements d'horaire ou de répartition.</a:t>
            </a:r>
          </a:p>
          <a:p>
            <a:pPr>
              <a:defRPr sz="1500">
                <a:solidFill>
                  <a:srgbClr val="000000"/>
                </a:solidFill>
              </a:defRPr>
            </a:pPr>
            <a:r>
              <a:t>Réorganiser l'espace pour réduire le bruit (barrières de séparation).</a:t>
            </a:r>
          </a:p>
          <a:p>
            <a:pPr>
              <a:defRPr sz="1500">
                <a:solidFill>
                  <a:srgbClr val="000000"/>
                </a:solidFill>
              </a:defRPr>
            </a:pPr>
            <a:r>
              <a:t>Explorer des sources de financement plus stables.</a:t>
            </a:r>
          </a:p>
          <a:p>
            <a:pPr>
              <a:defRPr sz="1500">
                <a:solidFill>
                  <a:srgbClr val="000000"/>
                </a:solidFill>
              </a:defRPr>
            </a:pPr>
            <a:r>
              <a:t>Augmenter le cours de religion de 30 à 45 minutes et regrouper les sous-groupes pendant ce créneau.</a:t>
            </a:r>
          </a:p>
          <a:p>
            <a:pPr>
              <a:defRPr sz="1500">
                <a:solidFill>
                  <a:srgbClr val="000000"/>
                </a:solidFill>
              </a:defRPr>
            </a:pPr>
            <a:r>
              <a:t>Étudier une solution technologique pour réduire l'impression papier et simplifier le suivi parental.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